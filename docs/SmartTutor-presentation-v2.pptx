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 you for your time today. I am [name], applying for [position]. My solution is SmartTutor: a mobile app that turns any document, such as a policy, a process or an onboarding guide, into a complete training course: a narrated video under five minutes and a one-page infographic. It takes a few minutes and costs about six cents per course. In about eight minutes I will cover four parts: what the app is, a demo, how the system works, and finally the current limitations and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SmartTutor is for HR and training teams who have plenty of documents but no time to produce training videos. You open the app on your phone, pick a document and tap Generate. A few minutes later you get two things. First, a training video under five minutes, with narration, real footage, and on-screen points and captions that follow the voice. Second, a one-page infographic with the key numbers, key ideas, steps, do and avoid tips, and a quick check question. Employees watch the video to understand and keep the infographic as a reference. The app writes and narrates in the language of the document.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two-page onboarding guide for new employees. I open the app, pick the file and tap Generate. The app shows each step the AI is working on: reading the document, writing the script, recording the voice, finding footage and rendering. I have sped this part up; in real time it takes about four minutes. Here is the result: narration, real footage, key points that appear exactly when they are spoken, and captions. And this is the infographic: key numbers, key ideas, steps, do and avoid, and a quick check. Both can be saved or shared with colleagues.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four main steps. One: Gemini reads the document and writes the whole course in a single structured call, so the video and the infographic always agree. Two: media is produced in parallel: narration, real footage from Pexels, and photos for the infographic. Three: the system measures the real length of the voice-over to guarantee the video stays under five minutes. Four: the infographic and the video are rendered by code, so every word is spelled correctly, including Vietnamese diacritics. Finally the app polls the status and downloads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four blocks: the mobile app, the application server, the video and infographic renderers, and external AI services. The app uploads the document; the server immediately returns a task id and works in the background while the app polls for progress, so an unstable mobile connection never loses the result. On security: the mobile app holds no API keys; every key lives only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I want to highlight. First, the AI writes content and code owns the design. Image models still misspell text, so I never let the AI draw text. Second, I tested Google Veo for AI-generated video. The shots look great, but it costs hundreds of times more and has a daily quota. For training, real footage is cheaper and never shows the wrong thing. Veo is still in the code, enabled with one setting. Third, every step has a fallback: if Gemini voices run out of quota the app switches to free Microsoft voices, and if the animated renderer fails it uses a simpler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estimated cost is about six cents per course. Footage, photos and rendering are free; only the AI writing and voice are paid. A course takes three to six minutes, mostly rendering, because the video is drawn frame by frame. The five-minute limit is guaranteed from the measured voice-over. In the cloud, Remotion Lambda renders chunks in parallel and brings this down to tens of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want to be clear about the limits of this version. The server runs on a laptop and task status is kept in memory, so a restart loses it. Several uploads at once slow the machine down because there is no queue yet. A course takes minutes to render. And there are no accounts or roles yet. This is a demo built within the assignment time, and each point already has a planned fix, which brings me to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continue, I would prioritise three things. One: move to the cloud with a job queue and parallel rendering, so many users can generate at once in seconds. Two: let HR review and edit the script before rendering, to stay in control of the content. Three: scored quizzes and export to the company's LMS. I see SmartTutor as a training module in an HR platform: HR uploads processes and policies, the system builds the lessons, and tracks which employees completed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AI-generated video like the ones online? Those are made with Veo, which costs hundreds of times more and has a daily quota. The code supports it behind one setting, but for training I chose real footage: cheap and never wrong.
Why does it take minutes? The video is rendered frame by frame at about real time on a laptop. In the cloud it renders in parallel chunks and takes tens of seconds.
Can the AI make things up? It reads the original document directly and numbers are only taken from the document. The next step is to let HR review the script before rendering.
Is it secure? The app holds no keys. Documents only go to our server and Gemini. Production would add login, roles and automatic file cleanup.
Vietnamese? Yes: the course is written and narrated in the language of the document; English, Vietnamese and Indonesian are supported today.
Many users at once? Today it runs on one machine, so it slows down. In production, rendering moves to separate workers behind a queue that scale with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image" Target="../media/image-11-2.png"/><Relationship Id="rId5" Type="http://schemas.openxmlformats.org/officeDocument/2006/relationships/image" Target="../media/image-11-2.png"/><Relationship Id="rId6" Type="http://schemas.openxmlformats.org/officeDocument/2006/relationships/image" Target="../media/image-11-2.png"/><Relationship Id="rId7" Type="http://schemas.openxmlformats.org/officeDocument/2006/relationships/image" Target="../media/image-11-2.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p:bgPr>
    </p:bg>
    <p:spTree>
      <p:nvGrpSpPr>
        <p:cNvPr id="1" name=""/>
        <p:cNvGrpSpPr/>
        <p:nvPr/>
      </p:nvGrpSpPr>
      <p:grpSpPr>
        <a:xfrm>
          <a:off x="0" y="0"/>
          <a:ext cx="0" cy="0"/>
          <a:chOff x="0" y="0"/>
          <a:chExt cx="0" cy="0"/>
        </a:xfrm>
      </p:grpSpPr>
      <p:sp>
        <p:nvSpPr>
          <p:cNvPr id="2" name="Text 0"/>
          <p:cNvSpPr txBox="1"/>
          <p:nvPr/>
        </p:nvSpPr>
        <p:spPr>
          <a:xfrm>
            <a:off x="548640" y="1188720"/>
            <a:ext cx="4389120" cy="868680"/>
          </a:xfrm>
          <a:prstGeom prst="rect">
            <a:avLst/>
          </a:prstGeom>
          <a:noFill/>
          <a:ln/>
        </p:spPr>
        <p:txBody>
          <a:bodyPr wrap="square" lIns="0" tIns="0" rIns="0" bIns="0"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SmartTutor</a:t>
            </a:r>
            <a:endParaRPr lang="en-US" sz="5400" dirty="0"/>
          </a:p>
        </p:txBody>
      </p:sp>
      <p:sp>
        <p:nvSpPr>
          <p:cNvPr id="3" name="Text 1"/>
          <p:cNvSpPr txBox="1"/>
          <p:nvPr/>
        </p:nvSpPr>
        <p:spPr>
          <a:xfrm>
            <a:off x="548640" y="2057400"/>
            <a:ext cx="4114800" cy="822960"/>
          </a:xfrm>
          <a:prstGeom prst="rect">
            <a:avLst/>
          </a:prstGeom>
          <a:noFill/>
          <a:ln/>
        </p:spPr>
        <p:txBody>
          <a:bodyPr wrap="square" lIns="0" tIns="0" rIns="0" bIns="0" rtlCol="0" anchor="t"/>
          <a:lstStyle/>
          <a:p>
            <a:pPr indent="0" marL="0">
              <a:buNone/>
            </a:pPr>
            <a:r>
              <a:rPr lang="en-US" sz="2200" dirty="0">
                <a:solidFill>
                  <a:srgbClr val="FFC845"/>
                </a:solidFill>
                <a:latin typeface="Calibri" pitchFamily="34" charset="0"/>
                <a:ea typeface="Calibri" pitchFamily="34" charset="-122"/>
                <a:cs typeface="Calibri" pitchFamily="34" charset="-120"/>
              </a:rPr>
              <a:t>Turn any document into a training course</a:t>
            </a:r>
            <a:endParaRPr lang="en-US" sz="2200" dirty="0"/>
          </a:p>
        </p:txBody>
      </p:sp>
      <p:sp>
        <p:nvSpPr>
          <p:cNvPr id="4" name="Text 2"/>
          <p:cNvSpPr txBox="1"/>
          <p:nvPr/>
        </p:nvSpPr>
        <p:spPr>
          <a:xfrm>
            <a:off x="548640" y="2926080"/>
            <a:ext cx="3931920" cy="731520"/>
          </a:xfrm>
          <a:prstGeom prst="rect">
            <a:avLst/>
          </a:prstGeom>
          <a:noFill/>
          <a:ln/>
        </p:spPr>
        <p:txBody>
          <a:bodyPr wrap="square" lIns="0" tIns="0" rIns="0" bIns="0" rtlCol="0" anchor="t"/>
          <a:lstStyle/>
          <a:p>
            <a:pPr indent="0" marL="0">
              <a:buNone/>
            </a:pPr>
            <a:r>
              <a:rPr lang="en-US" sz="1400" dirty="0">
                <a:solidFill>
                  <a:srgbClr val="C9D3EE"/>
                </a:solidFill>
                <a:latin typeface="Calibri" pitchFamily="34" charset="0"/>
                <a:ea typeface="Calibri" pitchFamily="34" charset="-122"/>
                <a:cs typeface="Calibri" pitchFamily="34" charset="-120"/>
              </a:rPr>
              <a:t>One upload. A narrated video under 5 minutes and a one-page infographic, in a few minutes.</a:t>
            </a:r>
            <a:endParaRPr lang="en-US" sz="1400" dirty="0"/>
          </a:p>
        </p:txBody>
      </p:sp>
      <p:sp>
        <p:nvSpPr>
          <p:cNvPr id="5" name="Text 3"/>
          <p:cNvSpPr txBox="1"/>
          <p:nvPr/>
        </p:nvSpPr>
        <p:spPr>
          <a:xfrm>
            <a:off x="548640" y="4343400"/>
            <a:ext cx="4572000" cy="320040"/>
          </a:xfrm>
          <a:prstGeom prst="rect">
            <a:avLst/>
          </a:prstGeom>
          <a:noFill/>
          <a:ln/>
        </p:spPr>
        <p:txBody>
          <a:bodyPr wrap="square" lIns="0" tIns="0" rIns="0" bIns="0" rtlCol="0" anchor="t"/>
          <a:lstStyle/>
          <a:p>
            <a:pPr indent="0" marL="0">
              <a:buNone/>
            </a:pPr>
            <a:r>
              <a:rPr lang="en-US" sz="1200" dirty="0">
                <a:solidFill>
                  <a:srgbClr val="9AA6C8"/>
                </a:solidFill>
                <a:latin typeface="Calibri" pitchFamily="34" charset="0"/>
                <a:ea typeface="Calibri" pitchFamily="34" charset="-122"/>
                <a:cs typeface="Calibri" pitchFamily="34" charset="-120"/>
              </a:rPr>
              <a:t>[Your name]  ·  [Position]  ·  October 2026</a:t>
            </a:r>
            <a:endParaRPr lang="en-US" sz="1200" dirty="0"/>
          </a:p>
        </p:txBody>
      </p:sp>
      <p:pic>
        <p:nvPicPr>
          <p:cNvPr id="6" name="Image 0" descr="C:\Users\Admin\AppData\Local\Temp\claude\d--SmartTutor\5ff2c210-ed39-47c1-9187-8611ef6ccd50\scratchpad\deck\frame.jpg">    </p:cNvPr>
          <p:cNvPicPr>
            <a:picLocks noChangeAspect="1"/>
          </p:cNvPicPr>
          <p:nvPr/>
        </p:nvPicPr>
        <p:blipFill>
          <a:blip r:embed="rId1"/>
          <a:stretch>
            <a:fillRect/>
          </a:stretch>
        </p:blipFill>
        <p:spPr>
          <a:xfrm>
            <a:off x="4846320" y="1234440"/>
            <a:ext cx="3840480" cy="2160270"/>
          </a:xfrm>
          <a:prstGeom prst="rect">
            <a:avLst/>
          </a:prstGeom>
          <a:effectLst>
            <a:outerShdw sx="100000" sy="100000" kx="0" ky="0" algn="bl" rotWithShape="0" blurRad="177800" dist="50800" dir="5400000">
              <a:srgbClr val="000000">
                <a:alpha val="35000"/>
              </a:srgbClr>
            </a:outerShdw>
          </a:effectLst>
        </p:spPr>
      </p:pic>
      <p:sp>
        <p:nvSpPr>
          <p:cNvPr id="7" name="Text 4"/>
          <p:cNvSpPr txBox="1"/>
          <p:nvPr/>
        </p:nvSpPr>
        <p:spPr>
          <a:xfrm>
            <a:off x="4846320" y="3520440"/>
            <a:ext cx="3840480" cy="274320"/>
          </a:xfrm>
          <a:prstGeom prst="rect">
            <a:avLst/>
          </a:prstGeom>
          <a:noFill/>
          <a:ln/>
        </p:spPr>
        <p:txBody>
          <a:bodyPr wrap="square" lIns="0" tIns="0" rIns="0" bIns="0" rtlCol="0" anchor="t"/>
          <a:lstStyle/>
          <a:p>
            <a:pPr indent="0" marL="0">
              <a:buNone/>
            </a:pPr>
            <a:r>
              <a:rPr lang="en-US" sz="1000" i="1" dirty="0">
                <a:solidFill>
                  <a:srgbClr val="9AA6C8"/>
                </a:solidFill>
                <a:latin typeface="Calibri" pitchFamily="34" charset="0"/>
                <a:ea typeface="Calibri" pitchFamily="34" charset="-122"/>
                <a:cs typeface="Calibri" pitchFamily="34" charset="-120"/>
              </a:rPr>
              <a:t>Real output: a frame from a video SmartTutor generated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F1B3D"/>
                </a:solidFill>
                <a:latin typeface="Calibri" pitchFamily="34" charset="0"/>
                <a:ea typeface="Calibri" pitchFamily="34" charset="-122"/>
                <a:cs typeface="Calibri" pitchFamily="34" charset="-120"/>
              </a:rPr>
              <a:t>What is SmartTutor?</a:t>
            </a:r>
            <a:endParaRPr lang="en-US" sz="3200" dirty="0"/>
          </a:p>
        </p:txBody>
      </p:sp>
      <p:sp>
        <p:nvSpPr>
          <p:cNvPr id="3" name="Text 1"/>
          <p:cNvSpPr txBox="1"/>
          <p:nvPr/>
        </p:nvSpPr>
        <p:spPr>
          <a:xfrm>
            <a:off x="457200" y="914400"/>
            <a:ext cx="8229600" cy="365760"/>
          </a:xfrm>
          <a:prstGeom prst="rect">
            <a:avLst/>
          </a:prstGeom>
          <a:noFill/>
          <a:ln/>
        </p:spPr>
        <p:txBody>
          <a:bodyPr wrap="square" lIns="0" tIns="0" rIns="0" bIns="0" rtlCol="0" anchor="t"/>
          <a:lstStyle/>
          <a:p>
            <a:pPr indent="0" marL="0">
              <a:buNone/>
            </a:pPr>
            <a:r>
              <a:rPr lang="en-US" sz="1500" dirty="0">
                <a:solidFill>
                  <a:srgbClr val="5B6480"/>
                </a:solidFill>
                <a:latin typeface="Calibri" pitchFamily="34" charset="0"/>
                <a:ea typeface="Calibri" pitchFamily="34" charset="-122"/>
                <a:cs typeface="Calibri" pitchFamily="34" charset="-120"/>
              </a:rPr>
              <a:t>For HR and training teams who have plenty of documents but no time to produce training videos.</a:t>
            </a:r>
            <a:endParaRPr lang="en-US" sz="1500" dirty="0"/>
          </a:p>
        </p:txBody>
      </p:sp>
      <p:sp>
        <p:nvSpPr>
          <p:cNvPr id="4" name="Shape 2"/>
          <p:cNvSpPr/>
          <p:nvPr/>
        </p:nvSpPr>
        <p:spPr>
          <a:xfrm>
            <a:off x="457200" y="1508760"/>
            <a:ext cx="2651760" cy="2240280"/>
          </a:xfrm>
          <a:prstGeom prst="roundRect">
            <a:avLst>
              <a:gd name="adj" fmla="val 4898"/>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5" name="Shape 3"/>
          <p:cNvSpPr/>
          <p:nvPr/>
        </p:nvSpPr>
        <p:spPr>
          <a:xfrm>
            <a:off x="685800" y="1737360"/>
            <a:ext cx="777240" cy="7772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6" name="Image 0" descr="C:\Users\Admin\AppData\Local\Temp\claude\d--SmartTutor\5ff2c210-ed39-47c1-9187-8611ef6ccd50\scratchpad\deck\emoji\doc.png">    </p:cNvPr>
          <p:cNvPicPr>
            <a:picLocks noChangeAspect="1"/>
          </p:cNvPicPr>
          <p:nvPr/>
        </p:nvPicPr>
        <p:blipFill>
          <a:blip r:embed="rId1"/>
          <a:stretch>
            <a:fillRect/>
          </a:stretch>
        </p:blipFill>
        <p:spPr>
          <a:xfrm>
            <a:off x="810158" y="1861718"/>
            <a:ext cx="528523" cy="528523"/>
          </a:xfrm>
          <a:prstGeom prst="rect">
            <a:avLst/>
          </a:prstGeom>
        </p:spPr>
      </p:pic>
      <p:sp>
        <p:nvSpPr>
          <p:cNvPr id="7" name="Text 4"/>
          <p:cNvSpPr txBox="1"/>
          <p:nvPr/>
        </p:nvSpPr>
        <p:spPr>
          <a:xfrm>
            <a:off x="685800" y="2651760"/>
            <a:ext cx="2286000" cy="274320"/>
          </a:xfrm>
          <a:prstGeom prst="rect">
            <a:avLst/>
          </a:prstGeom>
          <a:noFill/>
          <a:ln/>
        </p:spPr>
        <p:txBody>
          <a:bodyPr wrap="square" lIns="0" tIns="0" rIns="0" bIns="0" rtlCol="0" anchor="t"/>
          <a:lstStyle/>
          <a:p>
            <a:pPr indent="0" marL="0">
              <a:buNone/>
            </a:pPr>
            <a:r>
              <a:rPr lang="en-US" sz="1100" b="1" spc="200" kern="0" dirty="0">
                <a:solidFill>
                  <a:srgbClr val="1446D6"/>
                </a:solidFill>
                <a:latin typeface="Calibri" pitchFamily="34" charset="0"/>
                <a:ea typeface="Calibri" pitchFamily="34" charset="-122"/>
                <a:cs typeface="Calibri" pitchFamily="34" charset="-120"/>
              </a:rPr>
              <a:t>INPUT</a:t>
            </a:r>
            <a:endParaRPr lang="en-US" sz="1100" dirty="0"/>
          </a:p>
        </p:txBody>
      </p:sp>
      <p:sp>
        <p:nvSpPr>
          <p:cNvPr id="8" name="Text 5"/>
          <p:cNvSpPr txBox="1"/>
          <p:nvPr/>
        </p:nvSpPr>
        <p:spPr>
          <a:xfrm>
            <a:off x="685800" y="2880360"/>
            <a:ext cx="2286000" cy="365760"/>
          </a:xfrm>
          <a:prstGeom prst="rect">
            <a:avLst/>
          </a:prstGeom>
          <a:noFill/>
          <a:ln/>
        </p:spPr>
        <p:txBody>
          <a:bodyPr wrap="square" lIns="0" tIns="0" rIns="0" bIns="0" rtlCol="0" anchor="t"/>
          <a:lstStyle/>
          <a:p>
            <a:pPr indent="0" marL="0">
              <a:buNone/>
            </a:pPr>
            <a:r>
              <a:rPr lang="en-US" sz="2000" b="1" dirty="0">
                <a:solidFill>
                  <a:srgbClr val="0F1B3D"/>
                </a:solidFill>
                <a:latin typeface="Calibri" pitchFamily="34" charset="0"/>
                <a:ea typeface="Calibri" pitchFamily="34" charset="-122"/>
                <a:cs typeface="Calibri" pitchFamily="34" charset="-120"/>
              </a:rPr>
              <a:t>One document</a:t>
            </a:r>
            <a:endParaRPr lang="en-US" sz="2000" dirty="0"/>
          </a:p>
        </p:txBody>
      </p:sp>
      <p:sp>
        <p:nvSpPr>
          <p:cNvPr id="9" name="Text 6"/>
          <p:cNvSpPr txBox="1"/>
          <p:nvPr/>
        </p:nvSpPr>
        <p:spPr>
          <a:xfrm>
            <a:off x="685800" y="3218688"/>
            <a:ext cx="2240280" cy="457200"/>
          </a:xfrm>
          <a:prstGeom prst="rect">
            <a:avLst/>
          </a:prstGeom>
          <a:noFill/>
          <a:ln/>
        </p:spPr>
        <p:txBody>
          <a:bodyPr wrap="square" lIns="0" tIns="0" rIns="0" bIns="0" rtlCol="0" anchor="t"/>
          <a:lstStyle/>
          <a:p>
            <a:pPr indent="0" marL="0">
              <a:buNone/>
            </a:pPr>
            <a:r>
              <a:rPr lang="en-US" sz="1200" dirty="0">
                <a:solidFill>
                  <a:srgbClr val="5B6480"/>
                </a:solidFill>
                <a:latin typeface="Calibri" pitchFamily="34" charset="0"/>
                <a:ea typeface="Calibri" pitchFamily="34" charset="-122"/>
                <a:cs typeface="Calibri" pitchFamily="34" charset="-120"/>
              </a:rPr>
              <a:t>PDF, DOCX or TXT: a policy, process or onboarding guide</a:t>
            </a:r>
            <a:endParaRPr lang="en-US" sz="1200" dirty="0"/>
          </a:p>
        </p:txBody>
      </p:sp>
      <p:sp>
        <p:nvSpPr>
          <p:cNvPr id="10" name="Text 7"/>
          <p:cNvSpPr txBox="1"/>
          <p:nvPr/>
        </p:nvSpPr>
        <p:spPr>
          <a:xfrm>
            <a:off x="3154680" y="2286000"/>
            <a:ext cx="1371600" cy="274320"/>
          </a:xfrm>
          <a:prstGeom prst="rect">
            <a:avLst/>
          </a:prstGeom>
          <a:noFill/>
          <a:ln/>
        </p:spPr>
        <p:txBody>
          <a:bodyPr wrap="square" lIns="0" tIns="0" rIns="0" bIns="0" rtlCol="0" anchor="t"/>
          <a:lstStyle/>
          <a:p>
            <a:pPr algn="ctr" indent="0" marL="0">
              <a:buNone/>
            </a:pPr>
            <a:r>
              <a:rPr lang="en-US" sz="1200" b="1" dirty="0">
                <a:solidFill>
                  <a:srgbClr val="1446D6"/>
                </a:solidFill>
                <a:latin typeface="Calibri" pitchFamily="34" charset="0"/>
                <a:ea typeface="Calibri" pitchFamily="34" charset="-122"/>
                <a:cs typeface="Calibri" pitchFamily="34" charset="-120"/>
              </a:rPr>
              <a:t>AI · a few minutes</a:t>
            </a:r>
            <a:endParaRPr lang="en-US" sz="1200" dirty="0"/>
          </a:p>
        </p:txBody>
      </p:sp>
      <p:sp>
        <p:nvSpPr>
          <p:cNvPr id="11" name="Shape 8"/>
          <p:cNvSpPr/>
          <p:nvPr/>
        </p:nvSpPr>
        <p:spPr>
          <a:xfrm>
            <a:off x="3520440" y="2606040"/>
            <a:ext cx="640080" cy="365760"/>
          </a:xfrm>
          <a:prstGeom prst="rightArrow">
            <a:avLst/>
          </a:prstGeom>
          <a:solidFill>
            <a:srgbClr val="1446D6"/>
          </a:solidFill>
          <a:ln w="12700">
            <a:solidFill>
              <a:srgbClr val="1446D6"/>
            </a:solidFill>
            <a:prstDash val="solid"/>
          </a:ln>
        </p:spPr>
      </p:sp>
      <p:sp>
        <p:nvSpPr>
          <p:cNvPr id="12" name="Shape 9"/>
          <p:cNvSpPr/>
          <p:nvPr/>
        </p:nvSpPr>
        <p:spPr>
          <a:xfrm>
            <a:off x="4572000" y="1508760"/>
            <a:ext cx="4114800" cy="1069848"/>
          </a:xfrm>
          <a:prstGeom prst="roundRect">
            <a:avLst>
              <a:gd name="adj" fmla="val 10256"/>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13" name="Shape 10"/>
          <p:cNvSpPr/>
          <p:nvPr/>
        </p:nvSpPr>
        <p:spPr>
          <a:xfrm>
            <a:off x="4754880" y="1682496"/>
            <a:ext cx="731520" cy="73152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4" name="Image 1" descr="C:\Users\Admin\AppData\Local\Temp\claude\d--SmartTutor\5ff2c210-ed39-47c1-9187-8611ef6ccd50\scratchpad\deck\emoji\clapper.png">    </p:cNvPr>
          <p:cNvPicPr>
            <a:picLocks noChangeAspect="1"/>
          </p:cNvPicPr>
          <p:nvPr/>
        </p:nvPicPr>
        <p:blipFill>
          <a:blip r:embed="rId2"/>
          <a:stretch>
            <a:fillRect/>
          </a:stretch>
        </p:blipFill>
        <p:spPr>
          <a:xfrm>
            <a:off x="4871923" y="1799539"/>
            <a:ext cx="497434" cy="497434"/>
          </a:xfrm>
          <a:prstGeom prst="rect">
            <a:avLst/>
          </a:prstGeom>
        </p:spPr>
      </p:pic>
      <p:sp>
        <p:nvSpPr>
          <p:cNvPr id="15" name="Text 11"/>
          <p:cNvSpPr txBox="1"/>
          <p:nvPr/>
        </p:nvSpPr>
        <p:spPr>
          <a:xfrm>
            <a:off x="5669280" y="1691640"/>
            <a:ext cx="2880360" cy="365760"/>
          </a:xfrm>
          <a:prstGeom prst="rect">
            <a:avLst/>
          </a:prstGeom>
          <a:noFill/>
          <a:ln/>
        </p:spPr>
        <p:txBody>
          <a:bodyPr wrap="square" lIns="0" tIns="0" rIns="0" bIns="0" rtlCol="0" anchor="t"/>
          <a:lstStyle/>
          <a:p>
            <a:pPr indent="0" marL="0">
              <a:buNone/>
            </a:pPr>
            <a:r>
              <a:rPr lang="en-US" sz="1800" b="1" dirty="0">
                <a:solidFill>
                  <a:srgbClr val="0F1B3D"/>
                </a:solidFill>
                <a:latin typeface="Calibri" pitchFamily="34" charset="0"/>
                <a:ea typeface="Calibri" pitchFamily="34" charset="-122"/>
                <a:cs typeface="Calibri" pitchFamily="34" charset="-120"/>
              </a:rPr>
              <a:t>Training video</a:t>
            </a:r>
            <a:endParaRPr lang="en-US" sz="1800" dirty="0"/>
          </a:p>
        </p:txBody>
      </p:sp>
      <p:sp>
        <p:nvSpPr>
          <p:cNvPr id="16" name="Text 12"/>
          <p:cNvSpPr txBox="1"/>
          <p:nvPr/>
        </p:nvSpPr>
        <p:spPr>
          <a:xfrm>
            <a:off x="5669280" y="2057400"/>
            <a:ext cx="2880360" cy="411480"/>
          </a:xfrm>
          <a:prstGeom prst="rect">
            <a:avLst/>
          </a:prstGeom>
          <a:noFill/>
          <a:ln/>
        </p:spPr>
        <p:txBody>
          <a:bodyPr wrap="square" lIns="0" tIns="0" rIns="0" bIns="0" rtlCol="0" anchor="t"/>
          <a:lstStyle/>
          <a:p>
            <a:pPr indent="0" marL="0">
              <a:buNone/>
            </a:pPr>
            <a:r>
              <a:rPr lang="en-US" sz="1200" dirty="0">
                <a:solidFill>
                  <a:srgbClr val="5B6480"/>
                </a:solidFill>
                <a:latin typeface="Calibri" pitchFamily="34" charset="0"/>
                <a:ea typeface="Calibri" pitchFamily="34" charset="-122"/>
                <a:cs typeface="Calibri" pitchFamily="34" charset="-120"/>
              </a:rPr>
              <a:t>Narrated, real footage, captions, under 5 minutes</a:t>
            </a:r>
            <a:endParaRPr lang="en-US" sz="1200" dirty="0"/>
          </a:p>
        </p:txBody>
      </p:sp>
      <p:sp>
        <p:nvSpPr>
          <p:cNvPr id="17" name="Shape 13"/>
          <p:cNvSpPr/>
          <p:nvPr/>
        </p:nvSpPr>
        <p:spPr>
          <a:xfrm>
            <a:off x="4572000" y="2679192"/>
            <a:ext cx="4114800" cy="1069848"/>
          </a:xfrm>
          <a:prstGeom prst="roundRect">
            <a:avLst>
              <a:gd name="adj" fmla="val 10256"/>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18" name="Shape 14"/>
          <p:cNvSpPr/>
          <p:nvPr/>
        </p:nvSpPr>
        <p:spPr>
          <a:xfrm>
            <a:off x="4754880" y="2852928"/>
            <a:ext cx="731520" cy="73152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9" name="Image 2" descr="C:\Users\Admin\AppData\Local\Temp\claude\d--SmartTutor\5ff2c210-ed39-47c1-9187-8611ef6ccd50\scratchpad\deck\emoji\picture.png">    </p:cNvPr>
          <p:cNvPicPr>
            <a:picLocks noChangeAspect="1"/>
          </p:cNvPicPr>
          <p:nvPr/>
        </p:nvPicPr>
        <p:blipFill>
          <a:blip r:embed="rId3"/>
          <a:stretch>
            <a:fillRect/>
          </a:stretch>
        </p:blipFill>
        <p:spPr>
          <a:xfrm>
            <a:off x="4871923" y="2969971"/>
            <a:ext cx="497434" cy="497434"/>
          </a:xfrm>
          <a:prstGeom prst="rect">
            <a:avLst/>
          </a:prstGeom>
        </p:spPr>
      </p:pic>
      <p:sp>
        <p:nvSpPr>
          <p:cNvPr id="20" name="Text 15"/>
          <p:cNvSpPr txBox="1"/>
          <p:nvPr/>
        </p:nvSpPr>
        <p:spPr>
          <a:xfrm>
            <a:off x="5669280" y="2862072"/>
            <a:ext cx="2880360" cy="365760"/>
          </a:xfrm>
          <a:prstGeom prst="rect">
            <a:avLst/>
          </a:prstGeom>
          <a:noFill/>
          <a:ln/>
        </p:spPr>
        <p:txBody>
          <a:bodyPr wrap="square" lIns="0" tIns="0" rIns="0" bIns="0" rtlCol="0" anchor="t"/>
          <a:lstStyle/>
          <a:p>
            <a:pPr indent="0" marL="0">
              <a:buNone/>
            </a:pPr>
            <a:r>
              <a:rPr lang="en-US" sz="1800" b="1" dirty="0">
                <a:solidFill>
                  <a:srgbClr val="0F1B3D"/>
                </a:solidFill>
                <a:latin typeface="Calibri" pitchFamily="34" charset="0"/>
                <a:ea typeface="Calibri" pitchFamily="34" charset="-122"/>
                <a:cs typeface="Calibri" pitchFamily="34" charset="-120"/>
              </a:rPr>
              <a:t>Infographic</a:t>
            </a:r>
            <a:endParaRPr lang="en-US" sz="1800" dirty="0"/>
          </a:p>
        </p:txBody>
      </p:sp>
      <p:sp>
        <p:nvSpPr>
          <p:cNvPr id="21" name="Text 16"/>
          <p:cNvSpPr txBox="1"/>
          <p:nvPr/>
        </p:nvSpPr>
        <p:spPr>
          <a:xfrm>
            <a:off x="5669280" y="3227832"/>
            <a:ext cx="2880360" cy="411480"/>
          </a:xfrm>
          <a:prstGeom prst="rect">
            <a:avLst/>
          </a:prstGeom>
          <a:noFill/>
          <a:ln/>
        </p:spPr>
        <p:txBody>
          <a:bodyPr wrap="square" lIns="0" tIns="0" rIns="0" bIns="0" rtlCol="0" anchor="t"/>
          <a:lstStyle/>
          <a:p>
            <a:pPr indent="0" marL="0">
              <a:buNone/>
            </a:pPr>
            <a:r>
              <a:rPr lang="en-US" sz="1200" dirty="0">
                <a:solidFill>
                  <a:srgbClr val="5B6480"/>
                </a:solidFill>
                <a:latin typeface="Calibri" pitchFamily="34" charset="0"/>
                <a:ea typeface="Calibri" pitchFamily="34" charset="-122"/>
                <a:cs typeface="Calibri" pitchFamily="34" charset="-120"/>
              </a:rPr>
              <a:t>Key numbers, ideas, steps, do / avoid and a quick quiz</a:t>
            </a:r>
            <a:endParaRPr lang="en-US" sz="1200" dirty="0"/>
          </a:p>
        </p:txBody>
      </p:sp>
      <p:sp>
        <p:nvSpPr>
          <p:cNvPr id="22" name="Shape 17"/>
          <p:cNvSpPr/>
          <p:nvPr/>
        </p:nvSpPr>
        <p:spPr>
          <a:xfrm>
            <a:off x="457200" y="4069080"/>
            <a:ext cx="457200" cy="45720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23" name="Image 3" descr="C:\Users\Admin\AppData\Local\Temp\claude\d--SmartTutor\5ff2c210-ed39-47c1-9187-8611ef6ccd50\scratchpad\deck\emoji\phone.png">    </p:cNvPr>
          <p:cNvPicPr>
            <a:picLocks noChangeAspect="1"/>
          </p:cNvPicPr>
          <p:nvPr/>
        </p:nvPicPr>
        <p:blipFill>
          <a:blip r:embed="rId4"/>
          <a:stretch>
            <a:fillRect/>
          </a:stretch>
        </p:blipFill>
        <p:spPr>
          <a:xfrm>
            <a:off x="530352" y="4142232"/>
            <a:ext cx="310896" cy="310896"/>
          </a:xfrm>
          <a:prstGeom prst="rect">
            <a:avLst/>
          </a:prstGeom>
        </p:spPr>
      </p:pic>
      <p:sp>
        <p:nvSpPr>
          <p:cNvPr id="24" name="Text 18"/>
          <p:cNvSpPr txBox="1"/>
          <p:nvPr/>
        </p:nvSpPr>
        <p:spPr>
          <a:xfrm>
            <a:off x="1024128" y="4069080"/>
            <a:ext cx="2148840" cy="457200"/>
          </a:xfrm>
          <a:prstGeom prst="rect">
            <a:avLst/>
          </a:prstGeom>
          <a:noFill/>
          <a:ln/>
        </p:spPr>
        <p:txBody>
          <a:bodyPr wrap="square" lIns="0" tIns="0" rIns="0" bIns="0" rtlCol="0" anchor="ctr"/>
          <a:lstStyle/>
          <a:p>
            <a:pPr indent="0" marL="0">
              <a:buNone/>
            </a:pPr>
            <a:r>
              <a:rPr lang="en-US" sz="1300" dirty="0">
                <a:solidFill>
                  <a:srgbClr val="0F1B3D"/>
                </a:solidFill>
                <a:latin typeface="Calibri" pitchFamily="34" charset="0"/>
                <a:ea typeface="Calibri" pitchFamily="34" charset="-122"/>
                <a:cs typeface="Calibri" pitchFamily="34" charset="-120"/>
              </a:rPr>
              <a:t>Works on a phone</a:t>
            </a:r>
            <a:endParaRPr lang="en-US" sz="1300" dirty="0"/>
          </a:p>
        </p:txBody>
      </p:sp>
      <p:sp>
        <p:nvSpPr>
          <p:cNvPr id="25" name="Shape 19"/>
          <p:cNvSpPr/>
          <p:nvPr/>
        </p:nvSpPr>
        <p:spPr>
          <a:xfrm>
            <a:off x="3246120" y="4069080"/>
            <a:ext cx="457200" cy="45720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26" name="Image 4" descr="C:\Users\Admin\AppData\Local\Temp\claude\d--SmartTutor\5ff2c210-ed39-47c1-9187-8611ef6ccd50\scratchpad\deck\emoji\globe.png">    </p:cNvPr>
          <p:cNvPicPr>
            <a:picLocks noChangeAspect="1"/>
          </p:cNvPicPr>
          <p:nvPr/>
        </p:nvPicPr>
        <p:blipFill>
          <a:blip r:embed="rId5"/>
          <a:stretch>
            <a:fillRect/>
          </a:stretch>
        </p:blipFill>
        <p:spPr>
          <a:xfrm>
            <a:off x="3319272" y="4142232"/>
            <a:ext cx="310896" cy="310896"/>
          </a:xfrm>
          <a:prstGeom prst="rect">
            <a:avLst/>
          </a:prstGeom>
        </p:spPr>
      </p:pic>
      <p:sp>
        <p:nvSpPr>
          <p:cNvPr id="27" name="Text 20"/>
          <p:cNvSpPr txBox="1"/>
          <p:nvPr/>
        </p:nvSpPr>
        <p:spPr>
          <a:xfrm>
            <a:off x="3813048" y="4069080"/>
            <a:ext cx="2148840" cy="457200"/>
          </a:xfrm>
          <a:prstGeom prst="rect">
            <a:avLst/>
          </a:prstGeom>
          <a:noFill/>
          <a:ln/>
        </p:spPr>
        <p:txBody>
          <a:bodyPr wrap="square" lIns="0" tIns="0" rIns="0" bIns="0" rtlCol="0" anchor="ctr"/>
          <a:lstStyle/>
          <a:p>
            <a:pPr indent="0" marL="0">
              <a:buNone/>
            </a:pPr>
            <a:r>
              <a:rPr lang="en-US" sz="1300" dirty="0">
                <a:solidFill>
                  <a:srgbClr val="0F1B3D"/>
                </a:solidFill>
                <a:latin typeface="Calibri" pitchFamily="34" charset="0"/>
                <a:ea typeface="Calibri" pitchFamily="34" charset="-122"/>
                <a:cs typeface="Calibri" pitchFamily="34" charset="-120"/>
              </a:rPr>
              <a:t>Written in the document's language</a:t>
            </a:r>
            <a:endParaRPr lang="en-US" sz="1300" dirty="0"/>
          </a:p>
        </p:txBody>
      </p:sp>
      <p:sp>
        <p:nvSpPr>
          <p:cNvPr id="28" name="Shape 21"/>
          <p:cNvSpPr/>
          <p:nvPr/>
        </p:nvSpPr>
        <p:spPr>
          <a:xfrm>
            <a:off x="6035040" y="4069080"/>
            <a:ext cx="457200" cy="45720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29" name="Image 5" descr="C:\Users\Admin\AppData\Local\Temp\claude\d--SmartTutor\5ff2c210-ed39-47c1-9187-8611ef6ccd50\scratchpad\deck\emoji\coin.png">    </p:cNvPr>
          <p:cNvPicPr>
            <a:picLocks noChangeAspect="1"/>
          </p:cNvPicPr>
          <p:nvPr/>
        </p:nvPicPr>
        <p:blipFill>
          <a:blip r:embed="rId6"/>
          <a:stretch>
            <a:fillRect/>
          </a:stretch>
        </p:blipFill>
        <p:spPr>
          <a:xfrm>
            <a:off x="6108192" y="4142232"/>
            <a:ext cx="310896" cy="310896"/>
          </a:xfrm>
          <a:prstGeom prst="rect">
            <a:avLst/>
          </a:prstGeom>
        </p:spPr>
      </p:pic>
      <p:sp>
        <p:nvSpPr>
          <p:cNvPr id="30" name="Text 22"/>
          <p:cNvSpPr txBox="1"/>
          <p:nvPr/>
        </p:nvSpPr>
        <p:spPr>
          <a:xfrm>
            <a:off x="6601968" y="4069080"/>
            <a:ext cx="2148840" cy="457200"/>
          </a:xfrm>
          <a:prstGeom prst="rect">
            <a:avLst/>
          </a:prstGeom>
          <a:noFill/>
          <a:ln/>
        </p:spPr>
        <p:txBody>
          <a:bodyPr wrap="square" lIns="0" tIns="0" rIns="0" bIns="0" rtlCol="0" anchor="ctr"/>
          <a:lstStyle/>
          <a:p>
            <a:pPr indent="0" marL="0">
              <a:buNone/>
            </a:pPr>
            <a:r>
              <a:rPr lang="en-US" sz="1300" dirty="0">
                <a:solidFill>
                  <a:srgbClr val="0F1B3D"/>
                </a:solidFill>
                <a:latin typeface="Calibri" pitchFamily="34" charset="0"/>
                <a:ea typeface="Calibri" pitchFamily="34" charset="-122"/>
                <a:cs typeface="Calibri" pitchFamily="34" charset="-120"/>
              </a:rPr>
              <a:t>About $0.06 per course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Demo</a:t>
            </a:r>
            <a:endParaRPr lang="en-US" sz="3200" dirty="0"/>
          </a:p>
        </p:txBody>
      </p:sp>
      <p:pic>
        <p:nvPicPr>
          <p:cNvPr id="3" name="Image 0" descr="C:\Users\Admin\AppData\Local\Temp\claude\d--SmartTutor\5ff2c210-ed39-47c1-9187-8611ef6ccd50\scratchpad\deck\frame.jpg">    </p:cNvPr>
          <p:cNvPicPr>
            <a:picLocks noChangeAspect="1"/>
          </p:cNvPicPr>
          <p:nvPr/>
        </p:nvPicPr>
        <p:blipFill>
          <a:blip r:embed="rId1"/>
          <a:stretch>
            <a:fillRect/>
          </a:stretch>
        </p:blipFill>
        <p:spPr>
          <a:xfrm>
            <a:off x="457200" y="1097280"/>
            <a:ext cx="5120640" cy="2880360"/>
          </a:xfrm>
          <a:prstGeom prst="rect">
            <a:avLst/>
          </a:prstGeom>
          <a:effectLst>
            <a:outerShdw sx="100000" sy="100000" kx="0" ky="0" algn="bl" rotWithShape="0" blurRad="177800" dist="50800" dir="5400000">
              <a:srgbClr val="000000">
                <a:alpha val="35000"/>
              </a:srgbClr>
            </a:outerShdw>
          </a:effectLst>
        </p:spPr>
      </p:pic>
      <p:sp>
        <p:nvSpPr>
          <p:cNvPr id="4" name="Shape 1"/>
          <p:cNvSpPr/>
          <p:nvPr/>
        </p:nvSpPr>
        <p:spPr>
          <a:xfrm>
            <a:off x="2606040" y="2125980"/>
            <a:ext cx="822960" cy="822960"/>
          </a:xfrm>
          <a:prstGeom prst="ellipse">
            <a:avLst/>
          </a:prstGeom>
          <a:solidFill>
            <a:srgbClr val="FFC845"/>
          </a:solidFill>
          <a:ln w="12700">
            <a:solidFill>
              <a:srgbClr val="FFC845"/>
            </a:solidFill>
            <a:prstDash val="solid"/>
          </a:ln>
        </p:spPr>
      </p:sp>
      <p:sp>
        <p:nvSpPr>
          <p:cNvPr id="5" name="Shape 2"/>
          <p:cNvSpPr/>
          <p:nvPr/>
        </p:nvSpPr>
        <p:spPr>
          <a:xfrm rot="5400000">
            <a:off x="2862072" y="2336292"/>
            <a:ext cx="365760" cy="402336"/>
          </a:xfrm>
          <a:prstGeom prst="triangle">
            <a:avLst/>
          </a:prstGeom>
          <a:solidFill>
            <a:srgbClr val="0F1B3D"/>
          </a:solidFill>
          <a:ln w="12700">
            <a:solidFill>
              <a:srgbClr val="0F1B3D"/>
            </a:solidFill>
            <a:prstDash val="solid"/>
          </a:ln>
        </p:spPr>
      </p:sp>
      <p:sp>
        <p:nvSpPr>
          <p:cNvPr id="6" name="Text 3"/>
          <p:cNvSpPr txBox="1"/>
          <p:nvPr/>
        </p:nvSpPr>
        <p:spPr>
          <a:xfrm>
            <a:off x="457200" y="4114800"/>
            <a:ext cx="5120640" cy="274320"/>
          </a:xfrm>
          <a:prstGeom prst="rect">
            <a:avLst/>
          </a:prstGeom>
          <a:noFill/>
          <a:ln/>
        </p:spPr>
        <p:txBody>
          <a:bodyPr wrap="square" lIns="0" tIns="0" rIns="0" bIns="0" rtlCol="0" anchor="t"/>
          <a:lstStyle/>
          <a:p>
            <a:pPr indent="0" marL="0">
              <a:buNone/>
            </a:pPr>
            <a:r>
              <a:rPr lang="en-US" sz="1000" i="1" dirty="0">
                <a:solidFill>
                  <a:srgbClr val="9AA6C8"/>
                </a:solidFill>
                <a:latin typeface="Calibri" pitchFamily="34" charset="0"/>
                <a:ea typeface="Calibri" pitchFamily="34" charset="-122"/>
                <a:cs typeface="Calibri" pitchFamily="34" charset="-120"/>
              </a:rPr>
              <a:t>Insert or link the demo video here</a:t>
            </a:r>
            <a:endParaRPr lang="en-US" sz="1000" dirty="0"/>
          </a:p>
        </p:txBody>
      </p:sp>
      <p:sp>
        <p:nvSpPr>
          <p:cNvPr id="7" name="Shape 4"/>
          <p:cNvSpPr/>
          <p:nvPr/>
        </p:nvSpPr>
        <p:spPr>
          <a:xfrm>
            <a:off x="5943600" y="1097280"/>
            <a:ext cx="548640" cy="5486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8" name="Image 1" descr="C:\Users\Admin\AppData\Local\Temp\claude\d--SmartTutor\5ff2c210-ed39-47c1-9187-8611ef6ccd50\scratchpad\deck\emoji\outbox.png">    </p:cNvPr>
          <p:cNvPicPr>
            <a:picLocks noChangeAspect="1"/>
          </p:cNvPicPr>
          <p:nvPr/>
        </p:nvPicPr>
        <p:blipFill>
          <a:blip r:embed="rId2"/>
          <a:stretch>
            <a:fillRect/>
          </a:stretch>
        </p:blipFill>
        <p:spPr>
          <a:xfrm>
            <a:off x="6031382" y="1185062"/>
            <a:ext cx="373075" cy="373075"/>
          </a:xfrm>
          <a:prstGeom prst="rect">
            <a:avLst/>
          </a:prstGeom>
        </p:spPr>
      </p:pic>
      <p:sp>
        <p:nvSpPr>
          <p:cNvPr id="9" name="Text 5"/>
          <p:cNvSpPr txBox="1"/>
          <p:nvPr/>
        </p:nvSpPr>
        <p:spPr>
          <a:xfrm>
            <a:off x="6629400" y="1115568"/>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Pick a document</a:t>
            </a:r>
            <a:endParaRPr lang="en-US" sz="1500" dirty="0"/>
          </a:p>
        </p:txBody>
      </p:sp>
      <p:sp>
        <p:nvSpPr>
          <p:cNvPr id="10" name="Text 6"/>
          <p:cNvSpPr txBox="1"/>
          <p:nvPr/>
        </p:nvSpPr>
        <p:spPr>
          <a:xfrm>
            <a:off x="6629400" y="1389888"/>
            <a:ext cx="2103120" cy="274320"/>
          </a:xfrm>
          <a:prstGeom prst="rect">
            <a:avLst/>
          </a:prstGeom>
          <a:noFill/>
          <a:ln/>
        </p:spPr>
        <p:txBody>
          <a:bodyPr wrap="square" lIns="0" tIns="0" rIns="0" bIns="0" rtlCol="0" anchor="t"/>
          <a:lstStyle/>
          <a:p>
            <a:pPr indent="0" marL="0">
              <a:buNone/>
            </a:pPr>
            <a:r>
              <a:rPr lang="en-US" sz="1100" dirty="0">
                <a:solidFill>
                  <a:srgbClr val="C9D3EE"/>
                </a:solidFill>
                <a:latin typeface="Calibri" pitchFamily="34" charset="0"/>
                <a:ea typeface="Calibri" pitchFamily="34" charset="-122"/>
                <a:cs typeface="Calibri" pitchFamily="34" charset="-120"/>
              </a:rPr>
              <a:t>A 2-page onboarding guide</a:t>
            </a:r>
            <a:endParaRPr lang="en-US" sz="1100" dirty="0"/>
          </a:p>
        </p:txBody>
      </p:sp>
      <p:sp>
        <p:nvSpPr>
          <p:cNvPr id="11" name="Shape 7"/>
          <p:cNvSpPr/>
          <p:nvPr/>
        </p:nvSpPr>
        <p:spPr>
          <a:xfrm>
            <a:off x="5943600" y="1847088"/>
            <a:ext cx="548640" cy="5486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2" name="Image 2" descr="C:\Users\Admin\AppData\Local\Temp\claude\d--SmartTutor\5ff2c210-ed39-47c1-9187-8611ef6ccd50\scratchpad\deck\emoji\sparkles.png">    </p:cNvPr>
          <p:cNvPicPr>
            <a:picLocks noChangeAspect="1"/>
          </p:cNvPicPr>
          <p:nvPr/>
        </p:nvPicPr>
        <p:blipFill>
          <a:blip r:embed="rId3"/>
          <a:stretch>
            <a:fillRect/>
          </a:stretch>
        </p:blipFill>
        <p:spPr>
          <a:xfrm>
            <a:off x="6031382" y="1934870"/>
            <a:ext cx="373075" cy="373075"/>
          </a:xfrm>
          <a:prstGeom prst="rect">
            <a:avLst/>
          </a:prstGeom>
        </p:spPr>
      </p:pic>
      <p:sp>
        <p:nvSpPr>
          <p:cNvPr id="13" name="Text 8"/>
          <p:cNvSpPr txBox="1"/>
          <p:nvPr/>
        </p:nvSpPr>
        <p:spPr>
          <a:xfrm>
            <a:off x="6629400" y="1865376"/>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Generate</a:t>
            </a:r>
            <a:endParaRPr lang="en-US" sz="1500" dirty="0"/>
          </a:p>
        </p:txBody>
      </p:sp>
      <p:sp>
        <p:nvSpPr>
          <p:cNvPr id="14" name="Text 9"/>
          <p:cNvSpPr txBox="1"/>
          <p:nvPr/>
        </p:nvSpPr>
        <p:spPr>
          <a:xfrm>
            <a:off x="6629400" y="2139696"/>
            <a:ext cx="2103120" cy="274320"/>
          </a:xfrm>
          <a:prstGeom prst="rect">
            <a:avLst/>
          </a:prstGeom>
          <a:noFill/>
          <a:ln/>
        </p:spPr>
        <p:txBody>
          <a:bodyPr wrap="square" lIns="0" tIns="0" rIns="0" bIns="0" rtlCol="0" anchor="t"/>
          <a:lstStyle/>
          <a:p>
            <a:pPr indent="0" marL="0">
              <a:buNone/>
            </a:pPr>
            <a:r>
              <a:rPr lang="en-US" sz="1100" dirty="0">
                <a:solidFill>
                  <a:srgbClr val="C9D3EE"/>
                </a:solidFill>
                <a:latin typeface="Calibri" pitchFamily="34" charset="0"/>
                <a:ea typeface="Calibri" pitchFamily="34" charset="-122"/>
                <a:cs typeface="Calibri" pitchFamily="34" charset="-120"/>
              </a:rPr>
              <a:t>The app shows each AI step live</a:t>
            </a:r>
            <a:endParaRPr lang="en-US" sz="1100" dirty="0"/>
          </a:p>
        </p:txBody>
      </p:sp>
      <p:sp>
        <p:nvSpPr>
          <p:cNvPr id="15" name="Shape 10"/>
          <p:cNvSpPr/>
          <p:nvPr/>
        </p:nvSpPr>
        <p:spPr>
          <a:xfrm>
            <a:off x="5943600" y="2596896"/>
            <a:ext cx="548640" cy="5486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6" name="Image 3" descr="C:\Users\Admin\AppData\Local\Temp\claude\d--SmartTutor\5ff2c210-ed39-47c1-9187-8611ef6ccd50\scratchpad\deck\emoji\camera.png">    </p:cNvPr>
          <p:cNvPicPr>
            <a:picLocks noChangeAspect="1"/>
          </p:cNvPicPr>
          <p:nvPr/>
        </p:nvPicPr>
        <p:blipFill>
          <a:blip r:embed="rId4"/>
          <a:stretch>
            <a:fillRect/>
          </a:stretch>
        </p:blipFill>
        <p:spPr>
          <a:xfrm>
            <a:off x="6031382" y="2684678"/>
            <a:ext cx="373075" cy="373075"/>
          </a:xfrm>
          <a:prstGeom prst="rect">
            <a:avLst/>
          </a:prstGeom>
        </p:spPr>
      </p:pic>
      <p:sp>
        <p:nvSpPr>
          <p:cNvPr id="17" name="Text 11"/>
          <p:cNvSpPr txBox="1"/>
          <p:nvPr/>
        </p:nvSpPr>
        <p:spPr>
          <a:xfrm>
            <a:off x="6629400" y="2615184"/>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Watch the video</a:t>
            </a:r>
            <a:endParaRPr lang="en-US" sz="1500" dirty="0"/>
          </a:p>
        </p:txBody>
      </p:sp>
      <p:sp>
        <p:nvSpPr>
          <p:cNvPr id="18" name="Text 12"/>
          <p:cNvSpPr txBox="1"/>
          <p:nvPr/>
        </p:nvSpPr>
        <p:spPr>
          <a:xfrm>
            <a:off x="6629400" y="2889504"/>
            <a:ext cx="2103120" cy="274320"/>
          </a:xfrm>
          <a:prstGeom prst="rect">
            <a:avLst/>
          </a:prstGeom>
          <a:noFill/>
          <a:ln/>
        </p:spPr>
        <p:txBody>
          <a:bodyPr wrap="square" lIns="0" tIns="0" rIns="0" bIns="0" rtlCol="0" anchor="t"/>
          <a:lstStyle/>
          <a:p>
            <a:pPr indent="0" marL="0">
              <a:buNone/>
            </a:pPr>
            <a:r>
              <a:rPr lang="en-US" sz="1100" dirty="0">
                <a:solidFill>
                  <a:srgbClr val="C9D3EE"/>
                </a:solidFill>
                <a:latin typeface="Calibri" pitchFamily="34" charset="0"/>
                <a:ea typeface="Calibri" pitchFamily="34" charset="-122"/>
                <a:cs typeface="Calibri" pitchFamily="34" charset="-120"/>
              </a:rPr>
              <a:t>Voice, real footage, captions</a:t>
            </a:r>
            <a:endParaRPr lang="en-US" sz="1100" dirty="0"/>
          </a:p>
        </p:txBody>
      </p:sp>
      <p:sp>
        <p:nvSpPr>
          <p:cNvPr id="19" name="Shape 13"/>
          <p:cNvSpPr/>
          <p:nvPr/>
        </p:nvSpPr>
        <p:spPr>
          <a:xfrm>
            <a:off x="5943600" y="3346704"/>
            <a:ext cx="548640" cy="5486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20" name="Image 4" descr="C:\Users\Admin\AppData\Local\Temp\claude\d--SmartTutor\5ff2c210-ed39-47c1-9187-8611ef6ccd50\scratchpad\deck\emoji\link.png">    </p:cNvPr>
          <p:cNvPicPr>
            <a:picLocks noChangeAspect="1"/>
          </p:cNvPicPr>
          <p:nvPr/>
        </p:nvPicPr>
        <p:blipFill>
          <a:blip r:embed="rId5"/>
          <a:stretch>
            <a:fillRect/>
          </a:stretch>
        </p:blipFill>
        <p:spPr>
          <a:xfrm>
            <a:off x="6031382" y="3434486"/>
            <a:ext cx="373075" cy="373075"/>
          </a:xfrm>
          <a:prstGeom prst="rect">
            <a:avLst/>
          </a:prstGeom>
        </p:spPr>
      </p:pic>
      <p:sp>
        <p:nvSpPr>
          <p:cNvPr id="21" name="Text 14"/>
          <p:cNvSpPr txBox="1"/>
          <p:nvPr/>
        </p:nvSpPr>
        <p:spPr>
          <a:xfrm>
            <a:off x="6629400" y="3364992"/>
            <a:ext cx="2103120" cy="29260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Save or share</a:t>
            </a:r>
            <a:endParaRPr lang="en-US" sz="1500" dirty="0"/>
          </a:p>
        </p:txBody>
      </p:sp>
      <p:sp>
        <p:nvSpPr>
          <p:cNvPr id="22" name="Text 15"/>
          <p:cNvSpPr txBox="1"/>
          <p:nvPr/>
        </p:nvSpPr>
        <p:spPr>
          <a:xfrm>
            <a:off x="6629400" y="3639312"/>
            <a:ext cx="2103120" cy="274320"/>
          </a:xfrm>
          <a:prstGeom prst="rect">
            <a:avLst/>
          </a:prstGeom>
          <a:noFill/>
          <a:ln/>
        </p:spPr>
        <p:txBody>
          <a:bodyPr wrap="square" lIns="0" tIns="0" rIns="0" bIns="0" rtlCol="0" anchor="t"/>
          <a:lstStyle/>
          <a:p>
            <a:pPr indent="0" marL="0">
              <a:buNone/>
            </a:pPr>
            <a:r>
              <a:rPr lang="en-US" sz="1100" dirty="0">
                <a:solidFill>
                  <a:srgbClr val="C9D3EE"/>
                </a:solidFill>
                <a:latin typeface="Calibri" pitchFamily="34" charset="0"/>
                <a:ea typeface="Calibri" pitchFamily="34" charset="-122"/>
                <a:cs typeface="Calibri" pitchFamily="34" charset="-120"/>
              </a:rPr>
              <a:t>Video and infographic</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3D"/>
        </a:solidFill>
      </p:bgPr>
    </p:bg>
    <p:spTree>
      <p:nvGrpSpPr>
        <p:cNvPr id="1" name=""/>
        <p:cNvGrpSpPr/>
        <p:nvPr/>
      </p:nvGrpSpPr>
      <p:grpSpPr>
        <a:xfrm>
          <a:off x="0" y="0"/>
          <a:ext cx="0" cy="0"/>
          <a:chOff x="0" y="0"/>
          <a:chExt cx="0" cy="0"/>
        </a:xfrm>
      </p:grpSpPr>
      <p:pic>
        <p:nvPicPr>
          <p:cNvPr id="2" name="Image 0" descr="D:\SmartTutor\docs\main-flow.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F1B3D"/>
                </a:solidFill>
                <a:latin typeface="Calibri" pitchFamily="34" charset="0"/>
                <a:ea typeface="Calibri" pitchFamily="34" charset="-122"/>
                <a:cs typeface="Calibri" pitchFamily="34" charset="-120"/>
              </a:rPr>
              <a:t>System architecture</a:t>
            </a:r>
            <a:endParaRPr lang="en-US" sz="3200" dirty="0"/>
          </a:p>
        </p:txBody>
      </p:sp>
      <p:sp>
        <p:nvSpPr>
          <p:cNvPr id="3" name="Shape 1"/>
          <p:cNvSpPr/>
          <p:nvPr/>
        </p:nvSpPr>
        <p:spPr>
          <a:xfrm>
            <a:off x="457200" y="960120"/>
            <a:ext cx="8229600" cy="3931920"/>
          </a:xfrm>
          <a:prstGeom prst="roundRect">
            <a:avLst>
              <a:gd name="adj" fmla="val 2791"/>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pic>
        <p:nvPicPr>
          <p:cNvPr id="4" name="Image 0" descr="D:\SmartTutor\docs\system-architecture.png">    </p:cNvPr>
          <p:cNvPicPr>
            <a:picLocks noChangeAspect="1"/>
          </p:cNvPicPr>
          <p:nvPr/>
        </p:nvPicPr>
        <p:blipFill>
          <a:blip r:embed="rId1"/>
          <a:stretch>
            <a:fillRect/>
          </a:stretch>
        </p:blipFill>
        <p:spPr>
          <a:xfrm>
            <a:off x="594360" y="1051560"/>
            <a:ext cx="7955280" cy="377875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F1B3D"/>
                </a:solidFill>
                <a:latin typeface="Calibri" pitchFamily="34" charset="0"/>
                <a:ea typeface="Calibri" pitchFamily="34" charset="-122"/>
                <a:cs typeface="Calibri" pitchFamily="34" charset="-120"/>
              </a:rPr>
              <a:t>Three key decisions</a:t>
            </a:r>
            <a:endParaRPr lang="en-US" sz="3200" dirty="0"/>
          </a:p>
        </p:txBody>
      </p:sp>
      <p:sp>
        <p:nvSpPr>
          <p:cNvPr id="3" name="Shape 1"/>
          <p:cNvSpPr/>
          <p:nvPr/>
        </p:nvSpPr>
        <p:spPr>
          <a:xfrm>
            <a:off x="457200" y="1188720"/>
            <a:ext cx="2606040" cy="3017520"/>
          </a:xfrm>
          <a:prstGeom prst="roundRect">
            <a:avLst>
              <a:gd name="adj" fmla="val 4211"/>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4" name="Shape 2"/>
          <p:cNvSpPr/>
          <p:nvPr/>
        </p:nvSpPr>
        <p:spPr>
          <a:xfrm>
            <a:off x="731520" y="1444752"/>
            <a:ext cx="822960" cy="82296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5" name="Image 0" descr="C:\Users\Admin\AppData\Local\Temp\claude\d--SmartTutor\5ff2c210-ed39-47c1-9187-8611ef6ccd50\scratchpad\deck\emoji\palette.png">    </p:cNvPr>
          <p:cNvPicPr>
            <a:picLocks noChangeAspect="1"/>
          </p:cNvPicPr>
          <p:nvPr/>
        </p:nvPicPr>
        <p:blipFill>
          <a:blip r:embed="rId1"/>
          <a:stretch>
            <a:fillRect/>
          </a:stretch>
        </p:blipFill>
        <p:spPr>
          <a:xfrm>
            <a:off x="863194" y="1576426"/>
            <a:ext cx="559613" cy="559613"/>
          </a:xfrm>
          <a:prstGeom prst="rect">
            <a:avLst/>
          </a:prstGeom>
        </p:spPr>
      </p:pic>
      <p:sp>
        <p:nvSpPr>
          <p:cNvPr id="6" name="Text 3"/>
          <p:cNvSpPr txBox="1"/>
          <p:nvPr/>
        </p:nvSpPr>
        <p:spPr>
          <a:xfrm>
            <a:off x="731520" y="2468880"/>
            <a:ext cx="2103120" cy="640080"/>
          </a:xfrm>
          <a:prstGeom prst="rect">
            <a:avLst/>
          </a:prstGeom>
          <a:noFill/>
          <a:ln/>
        </p:spPr>
        <p:txBody>
          <a:bodyPr wrap="square" lIns="0" tIns="0" rIns="0" bIns="0" rtlCol="0" anchor="t"/>
          <a:lstStyle/>
          <a:p>
            <a:pPr indent="0" marL="0">
              <a:buNone/>
            </a:pPr>
            <a:r>
              <a:rPr lang="en-US" sz="1800" b="1" dirty="0">
                <a:solidFill>
                  <a:srgbClr val="0F1B3D"/>
                </a:solidFill>
                <a:latin typeface="Calibri" pitchFamily="34" charset="0"/>
                <a:ea typeface="Calibri" pitchFamily="34" charset="-122"/>
                <a:cs typeface="Calibri" pitchFamily="34" charset="-120"/>
              </a:rPr>
              <a:t>AI writes, code designs</a:t>
            </a:r>
            <a:endParaRPr lang="en-US" sz="1800" dirty="0"/>
          </a:p>
        </p:txBody>
      </p:sp>
      <p:sp>
        <p:nvSpPr>
          <p:cNvPr id="7" name="Text 4"/>
          <p:cNvSpPr txBox="1"/>
          <p:nvPr/>
        </p:nvSpPr>
        <p:spPr>
          <a:xfrm>
            <a:off x="731520" y="3108960"/>
            <a:ext cx="2103120" cy="1005840"/>
          </a:xfrm>
          <a:prstGeom prst="rect">
            <a:avLst/>
          </a:prstGeom>
          <a:noFill/>
          <a:ln/>
        </p:spPr>
        <p:txBody>
          <a:bodyPr wrap="square" lIns="0" tIns="0" rIns="0" bIns="0" rtlCol="0" anchor="t"/>
          <a:lstStyle/>
          <a:p>
            <a:pPr indent="0" marL="0">
              <a:buNone/>
            </a:pPr>
            <a:r>
              <a:rPr lang="en-US" sz="1250" dirty="0">
                <a:solidFill>
                  <a:srgbClr val="5B6480"/>
                </a:solidFill>
                <a:latin typeface="Calibri" pitchFamily="34" charset="0"/>
                <a:ea typeface="Calibri" pitchFamily="34" charset="-122"/>
                <a:cs typeface="Calibri" pitchFamily="34" charset="-120"/>
              </a:rPr>
              <a:t>The AI only produces structured content. Templates render every word, so text is always correct and the result looks designed.</a:t>
            </a:r>
            <a:endParaRPr lang="en-US" sz="1250" dirty="0"/>
          </a:p>
        </p:txBody>
      </p:sp>
      <p:sp>
        <p:nvSpPr>
          <p:cNvPr id="8" name="Shape 5"/>
          <p:cNvSpPr/>
          <p:nvPr/>
        </p:nvSpPr>
        <p:spPr>
          <a:xfrm>
            <a:off x="3291840" y="1188720"/>
            <a:ext cx="2606040" cy="3017520"/>
          </a:xfrm>
          <a:prstGeom prst="roundRect">
            <a:avLst>
              <a:gd name="adj" fmla="val 4211"/>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9" name="Shape 6"/>
          <p:cNvSpPr/>
          <p:nvPr/>
        </p:nvSpPr>
        <p:spPr>
          <a:xfrm>
            <a:off x="3566160" y="1444752"/>
            <a:ext cx="822960" cy="82296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0" name="Image 1" descr="C:\Users\Admin\AppData\Local\Temp\claude\d--SmartTutor\5ff2c210-ed39-47c1-9187-8611ef6ccd50\scratchpad\deck\emoji\film.png">    </p:cNvPr>
          <p:cNvPicPr>
            <a:picLocks noChangeAspect="1"/>
          </p:cNvPicPr>
          <p:nvPr/>
        </p:nvPicPr>
        <p:blipFill>
          <a:blip r:embed="rId2"/>
          <a:stretch>
            <a:fillRect/>
          </a:stretch>
        </p:blipFill>
        <p:spPr>
          <a:xfrm>
            <a:off x="3697834" y="1576426"/>
            <a:ext cx="559613" cy="559613"/>
          </a:xfrm>
          <a:prstGeom prst="rect">
            <a:avLst/>
          </a:prstGeom>
        </p:spPr>
      </p:pic>
      <p:sp>
        <p:nvSpPr>
          <p:cNvPr id="11" name="Text 7"/>
          <p:cNvSpPr txBox="1"/>
          <p:nvPr/>
        </p:nvSpPr>
        <p:spPr>
          <a:xfrm>
            <a:off x="3566160" y="2468880"/>
            <a:ext cx="2103120" cy="640080"/>
          </a:xfrm>
          <a:prstGeom prst="rect">
            <a:avLst/>
          </a:prstGeom>
          <a:noFill/>
          <a:ln/>
        </p:spPr>
        <p:txBody>
          <a:bodyPr wrap="square" lIns="0" tIns="0" rIns="0" bIns="0" rtlCol="0" anchor="t"/>
          <a:lstStyle/>
          <a:p>
            <a:pPr indent="0" marL="0">
              <a:buNone/>
            </a:pPr>
            <a:r>
              <a:rPr lang="en-US" sz="1800" b="1" dirty="0">
                <a:solidFill>
                  <a:srgbClr val="0F1B3D"/>
                </a:solidFill>
                <a:latin typeface="Calibri" pitchFamily="34" charset="0"/>
                <a:ea typeface="Calibri" pitchFamily="34" charset="-122"/>
                <a:cs typeface="Calibri" pitchFamily="34" charset="-120"/>
              </a:rPr>
              <a:t>Real footage over AI video</a:t>
            </a:r>
            <a:endParaRPr lang="en-US" sz="1800" dirty="0"/>
          </a:p>
        </p:txBody>
      </p:sp>
      <p:sp>
        <p:nvSpPr>
          <p:cNvPr id="12" name="Text 8"/>
          <p:cNvSpPr txBox="1"/>
          <p:nvPr/>
        </p:nvSpPr>
        <p:spPr>
          <a:xfrm>
            <a:off x="3566160" y="3108960"/>
            <a:ext cx="2103120" cy="1005840"/>
          </a:xfrm>
          <a:prstGeom prst="rect">
            <a:avLst/>
          </a:prstGeom>
          <a:noFill/>
          <a:ln/>
        </p:spPr>
        <p:txBody>
          <a:bodyPr wrap="square" lIns="0" tIns="0" rIns="0" bIns="0" rtlCol="0" anchor="t"/>
          <a:lstStyle/>
          <a:p>
            <a:pPr indent="0" marL="0">
              <a:buNone/>
            </a:pPr>
            <a:r>
              <a:rPr lang="en-US" sz="1250" dirty="0">
                <a:solidFill>
                  <a:srgbClr val="5B6480"/>
                </a:solidFill>
                <a:latin typeface="Calibri" pitchFamily="34" charset="0"/>
                <a:ea typeface="Calibri" pitchFamily="34" charset="-122"/>
                <a:cs typeface="Calibri" pitchFamily="34" charset="-120"/>
              </a:rPr>
              <a:t>We tested Google Veo: impressive, but hundreds of times more expensive and quota-limited. Veo stays available behind one setting.</a:t>
            </a:r>
            <a:endParaRPr lang="en-US" sz="1250" dirty="0"/>
          </a:p>
        </p:txBody>
      </p:sp>
      <p:sp>
        <p:nvSpPr>
          <p:cNvPr id="13" name="Shape 9"/>
          <p:cNvSpPr/>
          <p:nvPr/>
        </p:nvSpPr>
        <p:spPr>
          <a:xfrm>
            <a:off x="6126480" y="1188720"/>
            <a:ext cx="2606040" cy="3017520"/>
          </a:xfrm>
          <a:prstGeom prst="roundRect">
            <a:avLst>
              <a:gd name="adj" fmla="val 4211"/>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14" name="Shape 10"/>
          <p:cNvSpPr/>
          <p:nvPr/>
        </p:nvSpPr>
        <p:spPr>
          <a:xfrm>
            <a:off x="6400800" y="1444752"/>
            <a:ext cx="822960" cy="82296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5" name="Image 2" descr="C:\Users\Admin\AppData\Local\Temp\claude\d--SmartTutor\5ff2c210-ed39-47c1-9187-8611ef6ccd50\scratchpad\deck\emoji\buoy.png">    </p:cNvPr>
          <p:cNvPicPr>
            <a:picLocks noChangeAspect="1"/>
          </p:cNvPicPr>
          <p:nvPr/>
        </p:nvPicPr>
        <p:blipFill>
          <a:blip r:embed="rId3"/>
          <a:stretch>
            <a:fillRect/>
          </a:stretch>
        </p:blipFill>
        <p:spPr>
          <a:xfrm>
            <a:off x="6532474" y="1576426"/>
            <a:ext cx="559613" cy="559613"/>
          </a:xfrm>
          <a:prstGeom prst="rect">
            <a:avLst/>
          </a:prstGeom>
        </p:spPr>
      </p:pic>
      <p:sp>
        <p:nvSpPr>
          <p:cNvPr id="16" name="Text 11"/>
          <p:cNvSpPr txBox="1"/>
          <p:nvPr/>
        </p:nvSpPr>
        <p:spPr>
          <a:xfrm>
            <a:off x="6400800" y="2468880"/>
            <a:ext cx="2103120" cy="640080"/>
          </a:xfrm>
          <a:prstGeom prst="rect">
            <a:avLst/>
          </a:prstGeom>
          <a:noFill/>
          <a:ln/>
        </p:spPr>
        <p:txBody>
          <a:bodyPr wrap="square" lIns="0" tIns="0" rIns="0" bIns="0" rtlCol="0" anchor="t"/>
          <a:lstStyle/>
          <a:p>
            <a:pPr indent="0" marL="0">
              <a:buNone/>
            </a:pPr>
            <a:r>
              <a:rPr lang="en-US" sz="1800" b="1" dirty="0">
                <a:solidFill>
                  <a:srgbClr val="0F1B3D"/>
                </a:solidFill>
                <a:latin typeface="Calibri" pitchFamily="34" charset="0"/>
                <a:ea typeface="Calibri" pitchFamily="34" charset="-122"/>
                <a:cs typeface="Calibri" pitchFamily="34" charset="-120"/>
              </a:rPr>
              <a:t>A fallback for every step</a:t>
            </a:r>
            <a:endParaRPr lang="en-US" sz="1800" dirty="0"/>
          </a:p>
        </p:txBody>
      </p:sp>
      <p:sp>
        <p:nvSpPr>
          <p:cNvPr id="17" name="Text 12"/>
          <p:cNvSpPr txBox="1"/>
          <p:nvPr/>
        </p:nvSpPr>
        <p:spPr>
          <a:xfrm>
            <a:off x="6400800" y="3108960"/>
            <a:ext cx="2103120" cy="1005840"/>
          </a:xfrm>
          <a:prstGeom prst="rect">
            <a:avLst/>
          </a:prstGeom>
          <a:noFill/>
          <a:ln/>
        </p:spPr>
        <p:txBody>
          <a:bodyPr wrap="square" lIns="0" tIns="0" rIns="0" bIns="0" rtlCol="0" anchor="t"/>
          <a:lstStyle/>
          <a:p>
            <a:pPr indent="0" marL="0">
              <a:buNone/>
            </a:pPr>
            <a:r>
              <a:rPr lang="en-US" sz="1250" dirty="0">
                <a:solidFill>
                  <a:srgbClr val="5B6480"/>
                </a:solidFill>
                <a:latin typeface="Calibri" pitchFamily="34" charset="0"/>
                <a:ea typeface="Calibri" pitchFamily="34" charset="-122"/>
                <a:cs typeface="Calibri" pitchFamily="34" charset="-120"/>
              </a:rPr>
              <a:t>Voice falls back to free Microsoft voices, the renderer to a simpler engine. Running out of quota still produces a video.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F1B3D"/>
                </a:solidFill>
                <a:latin typeface="Calibri" pitchFamily="34" charset="0"/>
                <a:ea typeface="Calibri" pitchFamily="34" charset="-122"/>
                <a:cs typeface="Calibri" pitchFamily="34" charset="-120"/>
              </a:rPr>
              <a:t>Cost and time</a:t>
            </a:r>
            <a:endParaRPr lang="en-US" sz="3200" dirty="0"/>
          </a:p>
        </p:txBody>
      </p:sp>
      <p:sp>
        <p:nvSpPr>
          <p:cNvPr id="3" name="Shape 1"/>
          <p:cNvSpPr/>
          <p:nvPr/>
        </p:nvSpPr>
        <p:spPr>
          <a:xfrm>
            <a:off x="457200" y="1097280"/>
            <a:ext cx="2606040" cy="2468880"/>
          </a:xfrm>
          <a:prstGeom prst="roundRect">
            <a:avLst>
              <a:gd name="adj" fmla="val 4444"/>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4" name="Shape 2"/>
          <p:cNvSpPr/>
          <p:nvPr/>
        </p:nvSpPr>
        <p:spPr>
          <a:xfrm>
            <a:off x="685800" y="1298448"/>
            <a:ext cx="548640" cy="5486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5" name="Image 0" descr="C:\Users\Admin\AppData\Local\Temp\claude\d--SmartTutor\5ff2c210-ed39-47c1-9187-8611ef6ccd50\scratchpad\deck\emoji\coin.png">    </p:cNvPr>
          <p:cNvPicPr>
            <a:picLocks noChangeAspect="1"/>
          </p:cNvPicPr>
          <p:nvPr/>
        </p:nvPicPr>
        <p:blipFill>
          <a:blip r:embed="rId1"/>
          <a:stretch>
            <a:fillRect/>
          </a:stretch>
        </p:blipFill>
        <p:spPr>
          <a:xfrm>
            <a:off x="773582" y="1386230"/>
            <a:ext cx="373075" cy="373075"/>
          </a:xfrm>
          <a:prstGeom prst="rect">
            <a:avLst/>
          </a:prstGeom>
        </p:spPr>
      </p:pic>
      <p:sp>
        <p:nvSpPr>
          <p:cNvPr id="6" name="Text 3"/>
          <p:cNvSpPr txBox="1"/>
          <p:nvPr/>
        </p:nvSpPr>
        <p:spPr>
          <a:xfrm>
            <a:off x="685800" y="1901952"/>
            <a:ext cx="2286000" cy="685800"/>
          </a:xfrm>
          <a:prstGeom prst="rect">
            <a:avLst/>
          </a:prstGeom>
          <a:noFill/>
          <a:ln/>
        </p:spPr>
        <p:txBody>
          <a:bodyPr wrap="square" lIns="0" tIns="0" rIns="0" bIns="0" rtlCol="0" anchor="ctr"/>
          <a:lstStyle/>
          <a:p>
            <a:pPr indent="0" marL="0">
              <a:buNone/>
            </a:pPr>
            <a:r>
              <a:rPr lang="en-US" sz="4000" b="1" dirty="0">
                <a:solidFill>
                  <a:srgbClr val="1446D6"/>
                </a:solidFill>
                <a:latin typeface="Calibri" pitchFamily="34" charset="0"/>
                <a:ea typeface="Calibri" pitchFamily="34" charset="-122"/>
                <a:cs typeface="Calibri" pitchFamily="34" charset="-120"/>
              </a:rPr>
              <a:t>$0.06</a:t>
            </a:r>
            <a:endParaRPr lang="en-US" sz="4000" dirty="0"/>
          </a:p>
        </p:txBody>
      </p:sp>
      <p:sp>
        <p:nvSpPr>
          <p:cNvPr id="7" name="Text 4"/>
          <p:cNvSpPr txBox="1"/>
          <p:nvPr/>
        </p:nvSpPr>
        <p:spPr>
          <a:xfrm>
            <a:off x="685800" y="2606040"/>
            <a:ext cx="2286000" cy="292608"/>
          </a:xfrm>
          <a:prstGeom prst="rect">
            <a:avLst/>
          </a:prstGeom>
          <a:noFill/>
          <a:ln/>
        </p:spPr>
        <p:txBody>
          <a:bodyPr wrap="square" lIns="0" tIns="0" rIns="0" bIns="0" rtlCol="0" anchor="t"/>
          <a:lstStyle/>
          <a:p>
            <a:pPr indent="0" marL="0">
              <a:buNone/>
            </a:pPr>
            <a:r>
              <a:rPr lang="en-US" sz="1400" b="1" dirty="0">
                <a:solidFill>
                  <a:srgbClr val="0F1B3D"/>
                </a:solidFill>
                <a:latin typeface="Calibri" pitchFamily="34" charset="0"/>
                <a:ea typeface="Calibri" pitchFamily="34" charset="-122"/>
                <a:cs typeface="Calibri" pitchFamily="34" charset="-120"/>
              </a:rPr>
              <a:t>per course</a:t>
            </a:r>
            <a:endParaRPr lang="en-US" sz="1400" dirty="0"/>
          </a:p>
        </p:txBody>
      </p:sp>
      <p:sp>
        <p:nvSpPr>
          <p:cNvPr id="8" name="Text 5"/>
          <p:cNvSpPr txBox="1"/>
          <p:nvPr/>
        </p:nvSpPr>
        <p:spPr>
          <a:xfrm>
            <a:off x="685800" y="2907792"/>
            <a:ext cx="2194560" cy="594360"/>
          </a:xfrm>
          <a:prstGeom prst="rect">
            <a:avLst/>
          </a:prstGeom>
          <a:noFill/>
          <a:ln/>
        </p:spPr>
        <p:txBody>
          <a:bodyPr wrap="square" lIns="0" tIns="0" rIns="0" bIns="0" rtlCol="0" anchor="t"/>
          <a:lstStyle/>
          <a:p>
            <a:pPr indent="0" marL="0">
              <a:buNone/>
            </a:pPr>
            <a:r>
              <a:rPr lang="en-US" sz="1100" dirty="0">
                <a:solidFill>
                  <a:srgbClr val="5B6480"/>
                </a:solidFill>
                <a:latin typeface="Calibri" pitchFamily="34" charset="0"/>
                <a:ea typeface="Calibri" pitchFamily="34" charset="-122"/>
                <a:cs typeface="Calibri" pitchFamily="34" charset="-120"/>
              </a:rPr>
              <a:t>Estimated. Only the AI writing and voice are paid; footage, photos and rendering are free.</a:t>
            </a:r>
            <a:endParaRPr lang="en-US" sz="1100" dirty="0"/>
          </a:p>
        </p:txBody>
      </p:sp>
      <p:sp>
        <p:nvSpPr>
          <p:cNvPr id="9" name="Shape 6"/>
          <p:cNvSpPr/>
          <p:nvPr/>
        </p:nvSpPr>
        <p:spPr>
          <a:xfrm>
            <a:off x="3291840" y="1097280"/>
            <a:ext cx="2606040" cy="2468880"/>
          </a:xfrm>
          <a:prstGeom prst="roundRect">
            <a:avLst>
              <a:gd name="adj" fmla="val 4444"/>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10" name="Shape 7"/>
          <p:cNvSpPr/>
          <p:nvPr/>
        </p:nvSpPr>
        <p:spPr>
          <a:xfrm>
            <a:off x="3520440" y="1298448"/>
            <a:ext cx="548640" cy="5486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1" name="Image 1" descr="C:\Users\Admin\AppData\Local\Temp\claude\d--SmartTutor\5ff2c210-ed39-47c1-9187-8611ef6ccd50\scratchpad\deck\emoji\stopwatch.png">    </p:cNvPr>
          <p:cNvPicPr>
            <a:picLocks noChangeAspect="1"/>
          </p:cNvPicPr>
          <p:nvPr/>
        </p:nvPicPr>
        <p:blipFill>
          <a:blip r:embed="rId2"/>
          <a:stretch>
            <a:fillRect/>
          </a:stretch>
        </p:blipFill>
        <p:spPr>
          <a:xfrm>
            <a:off x="3608222" y="1386230"/>
            <a:ext cx="373075" cy="373075"/>
          </a:xfrm>
          <a:prstGeom prst="rect">
            <a:avLst/>
          </a:prstGeom>
        </p:spPr>
      </p:pic>
      <p:sp>
        <p:nvSpPr>
          <p:cNvPr id="12" name="Text 8"/>
          <p:cNvSpPr txBox="1"/>
          <p:nvPr/>
        </p:nvSpPr>
        <p:spPr>
          <a:xfrm>
            <a:off x="3520440" y="1901952"/>
            <a:ext cx="2286000" cy="685800"/>
          </a:xfrm>
          <a:prstGeom prst="rect">
            <a:avLst/>
          </a:prstGeom>
          <a:noFill/>
          <a:ln/>
        </p:spPr>
        <p:txBody>
          <a:bodyPr wrap="square" lIns="0" tIns="0" rIns="0" bIns="0" rtlCol="0" anchor="ctr"/>
          <a:lstStyle/>
          <a:p>
            <a:pPr indent="0" marL="0">
              <a:buNone/>
            </a:pPr>
            <a:r>
              <a:rPr lang="en-US" sz="4000" b="1" dirty="0">
                <a:solidFill>
                  <a:srgbClr val="1446D6"/>
                </a:solidFill>
                <a:latin typeface="Calibri" pitchFamily="34" charset="0"/>
                <a:ea typeface="Calibri" pitchFamily="34" charset="-122"/>
                <a:cs typeface="Calibri" pitchFamily="34" charset="-120"/>
              </a:rPr>
              <a:t>3–6 min</a:t>
            </a:r>
            <a:endParaRPr lang="en-US" sz="4000" dirty="0"/>
          </a:p>
        </p:txBody>
      </p:sp>
      <p:sp>
        <p:nvSpPr>
          <p:cNvPr id="13" name="Text 9"/>
          <p:cNvSpPr txBox="1"/>
          <p:nvPr/>
        </p:nvSpPr>
        <p:spPr>
          <a:xfrm>
            <a:off x="3520440" y="2606040"/>
            <a:ext cx="2286000" cy="292608"/>
          </a:xfrm>
          <a:prstGeom prst="rect">
            <a:avLst/>
          </a:prstGeom>
          <a:noFill/>
          <a:ln/>
        </p:spPr>
        <p:txBody>
          <a:bodyPr wrap="square" lIns="0" tIns="0" rIns="0" bIns="0" rtlCol="0" anchor="t"/>
          <a:lstStyle/>
          <a:p>
            <a:pPr indent="0" marL="0">
              <a:buNone/>
            </a:pPr>
            <a:r>
              <a:rPr lang="en-US" sz="1400" b="1" dirty="0">
                <a:solidFill>
                  <a:srgbClr val="0F1B3D"/>
                </a:solidFill>
                <a:latin typeface="Calibri" pitchFamily="34" charset="0"/>
                <a:ea typeface="Calibri" pitchFamily="34" charset="-122"/>
                <a:cs typeface="Calibri" pitchFamily="34" charset="-120"/>
              </a:rPr>
              <a:t>per course on a laptop</a:t>
            </a:r>
            <a:endParaRPr lang="en-US" sz="1400" dirty="0"/>
          </a:p>
        </p:txBody>
      </p:sp>
      <p:sp>
        <p:nvSpPr>
          <p:cNvPr id="14" name="Text 10"/>
          <p:cNvSpPr txBox="1"/>
          <p:nvPr/>
        </p:nvSpPr>
        <p:spPr>
          <a:xfrm>
            <a:off x="3520440" y="2907792"/>
            <a:ext cx="2194560" cy="594360"/>
          </a:xfrm>
          <a:prstGeom prst="rect">
            <a:avLst/>
          </a:prstGeom>
          <a:noFill/>
          <a:ln/>
        </p:spPr>
        <p:txBody>
          <a:bodyPr wrap="square" lIns="0" tIns="0" rIns="0" bIns="0" rtlCol="0" anchor="t"/>
          <a:lstStyle/>
          <a:p>
            <a:pPr indent="0" marL="0">
              <a:buNone/>
            </a:pPr>
            <a:r>
              <a:rPr lang="en-US" sz="1100" dirty="0">
                <a:solidFill>
                  <a:srgbClr val="5B6480"/>
                </a:solidFill>
                <a:latin typeface="Calibri" pitchFamily="34" charset="0"/>
                <a:ea typeface="Calibri" pitchFamily="34" charset="-122"/>
                <a:cs typeface="Calibri" pitchFamily="34" charset="-120"/>
              </a:rPr>
              <a:t>Mostly video rendering, which runs at about real time frame by frame.</a:t>
            </a:r>
            <a:endParaRPr lang="en-US" sz="1100" dirty="0"/>
          </a:p>
        </p:txBody>
      </p:sp>
      <p:sp>
        <p:nvSpPr>
          <p:cNvPr id="15" name="Shape 11"/>
          <p:cNvSpPr/>
          <p:nvPr/>
        </p:nvSpPr>
        <p:spPr>
          <a:xfrm>
            <a:off x="6126480" y="1097280"/>
            <a:ext cx="2606040" cy="2468880"/>
          </a:xfrm>
          <a:prstGeom prst="roundRect">
            <a:avLst>
              <a:gd name="adj" fmla="val 4444"/>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16" name="Shape 12"/>
          <p:cNvSpPr/>
          <p:nvPr/>
        </p:nvSpPr>
        <p:spPr>
          <a:xfrm>
            <a:off x="6355080" y="1298448"/>
            <a:ext cx="548640" cy="54864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7" name="Image 2" descr="C:\Users\Admin\AppData\Local\Temp\claude\d--SmartTutor\5ff2c210-ed39-47c1-9187-8611ef6ccd50\scratchpad\deck\emoji\clapper.png">    </p:cNvPr>
          <p:cNvPicPr>
            <a:picLocks noChangeAspect="1"/>
          </p:cNvPicPr>
          <p:nvPr/>
        </p:nvPicPr>
        <p:blipFill>
          <a:blip r:embed="rId3"/>
          <a:stretch>
            <a:fillRect/>
          </a:stretch>
        </p:blipFill>
        <p:spPr>
          <a:xfrm>
            <a:off x="6442862" y="1386230"/>
            <a:ext cx="373075" cy="373075"/>
          </a:xfrm>
          <a:prstGeom prst="rect">
            <a:avLst/>
          </a:prstGeom>
        </p:spPr>
      </p:pic>
      <p:sp>
        <p:nvSpPr>
          <p:cNvPr id="18" name="Text 13"/>
          <p:cNvSpPr txBox="1"/>
          <p:nvPr/>
        </p:nvSpPr>
        <p:spPr>
          <a:xfrm>
            <a:off x="6355080" y="1901952"/>
            <a:ext cx="2286000" cy="685800"/>
          </a:xfrm>
          <a:prstGeom prst="rect">
            <a:avLst/>
          </a:prstGeom>
          <a:noFill/>
          <a:ln/>
        </p:spPr>
        <p:txBody>
          <a:bodyPr wrap="square" lIns="0" tIns="0" rIns="0" bIns="0" rtlCol="0" anchor="ctr"/>
          <a:lstStyle/>
          <a:p>
            <a:pPr indent="0" marL="0">
              <a:buNone/>
            </a:pPr>
            <a:r>
              <a:rPr lang="en-US" sz="4000" b="1" dirty="0">
                <a:solidFill>
                  <a:srgbClr val="1446D6"/>
                </a:solidFill>
                <a:latin typeface="Calibri" pitchFamily="34" charset="0"/>
                <a:ea typeface="Calibri" pitchFamily="34" charset="-122"/>
                <a:cs typeface="Calibri" pitchFamily="34" charset="-120"/>
              </a:rPr>
              <a:t>&lt; 5 min</a:t>
            </a:r>
            <a:endParaRPr lang="en-US" sz="4000" dirty="0"/>
          </a:p>
        </p:txBody>
      </p:sp>
      <p:sp>
        <p:nvSpPr>
          <p:cNvPr id="19" name="Text 14"/>
          <p:cNvSpPr txBox="1"/>
          <p:nvPr/>
        </p:nvSpPr>
        <p:spPr>
          <a:xfrm>
            <a:off x="6355080" y="2606040"/>
            <a:ext cx="2286000" cy="292608"/>
          </a:xfrm>
          <a:prstGeom prst="rect">
            <a:avLst/>
          </a:prstGeom>
          <a:noFill/>
          <a:ln/>
        </p:spPr>
        <p:txBody>
          <a:bodyPr wrap="square" lIns="0" tIns="0" rIns="0" bIns="0" rtlCol="0" anchor="t"/>
          <a:lstStyle/>
          <a:p>
            <a:pPr indent="0" marL="0">
              <a:buNone/>
            </a:pPr>
            <a:r>
              <a:rPr lang="en-US" sz="1400" b="1" dirty="0">
                <a:solidFill>
                  <a:srgbClr val="0F1B3D"/>
                </a:solidFill>
                <a:latin typeface="Calibri" pitchFamily="34" charset="0"/>
                <a:ea typeface="Calibri" pitchFamily="34" charset="-122"/>
                <a:cs typeface="Calibri" pitchFamily="34" charset="-120"/>
              </a:rPr>
              <a:t>video length, guaranteed</a:t>
            </a:r>
            <a:endParaRPr lang="en-US" sz="1400" dirty="0"/>
          </a:p>
        </p:txBody>
      </p:sp>
      <p:sp>
        <p:nvSpPr>
          <p:cNvPr id="20" name="Text 15"/>
          <p:cNvSpPr txBox="1"/>
          <p:nvPr/>
        </p:nvSpPr>
        <p:spPr>
          <a:xfrm>
            <a:off x="6355080" y="2907792"/>
            <a:ext cx="2194560" cy="594360"/>
          </a:xfrm>
          <a:prstGeom prst="rect">
            <a:avLst/>
          </a:prstGeom>
          <a:noFill/>
          <a:ln/>
        </p:spPr>
        <p:txBody>
          <a:bodyPr wrap="square" lIns="0" tIns="0" rIns="0" bIns="0" rtlCol="0" anchor="t"/>
          <a:lstStyle/>
          <a:p>
            <a:pPr indent="0" marL="0">
              <a:buNone/>
            </a:pPr>
            <a:r>
              <a:rPr lang="en-US" sz="1100" dirty="0">
                <a:solidFill>
                  <a:srgbClr val="5B6480"/>
                </a:solidFill>
                <a:latin typeface="Calibri" pitchFamily="34" charset="0"/>
                <a:ea typeface="Calibri" pitchFamily="34" charset="-122"/>
                <a:cs typeface="Calibri" pitchFamily="34" charset="-120"/>
              </a:rPr>
              <a:t>Enforced from the measured length of the voice-over, not a guess.</a:t>
            </a:r>
            <a:endParaRPr lang="en-US" sz="1100" dirty="0"/>
          </a:p>
        </p:txBody>
      </p:sp>
      <p:sp>
        <p:nvSpPr>
          <p:cNvPr id="21" name="Shape 16"/>
          <p:cNvSpPr/>
          <p:nvPr/>
        </p:nvSpPr>
        <p:spPr>
          <a:xfrm>
            <a:off x="457200" y="3794760"/>
            <a:ext cx="8229600" cy="777240"/>
          </a:xfrm>
          <a:prstGeom prst="roundRect">
            <a:avLst>
              <a:gd name="adj" fmla="val 14118"/>
            </a:avLst>
          </a:prstGeom>
          <a:solidFill>
            <a:srgbClr val="0F1B3D"/>
          </a:solidFill>
          <a:ln w="12700">
            <a:solidFill>
              <a:srgbClr val="0F1B3D"/>
            </a:solidFill>
            <a:prstDash val="solid"/>
          </a:ln>
        </p:spPr>
      </p:sp>
      <p:pic>
        <p:nvPicPr>
          <p:cNvPr id="22" name="Image 3" descr="C:\Users\Admin\AppData\Local\Temp\claude\d--SmartTutor\5ff2c210-ed39-47c1-9187-8611ef6ccd50\scratchpad\deck\emoji\voltage.png">    </p:cNvPr>
          <p:cNvPicPr>
            <a:picLocks noChangeAspect="1"/>
          </p:cNvPicPr>
          <p:nvPr/>
        </p:nvPicPr>
        <p:blipFill>
          <a:blip r:embed="rId4"/>
          <a:stretch>
            <a:fillRect/>
          </a:stretch>
        </p:blipFill>
        <p:spPr>
          <a:xfrm>
            <a:off x="658368" y="3931920"/>
            <a:ext cx="502920" cy="502920"/>
          </a:xfrm>
          <a:prstGeom prst="rect">
            <a:avLst/>
          </a:prstGeom>
        </p:spPr>
      </p:pic>
      <p:sp>
        <p:nvSpPr>
          <p:cNvPr id="23" name="Text 17"/>
          <p:cNvSpPr txBox="1"/>
          <p:nvPr/>
        </p:nvSpPr>
        <p:spPr>
          <a:xfrm>
            <a:off x="1325880" y="3794760"/>
            <a:ext cx="717804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 the cloud, Remotion Lambda renders the video in parallel chunks: minutes become tens of seconds.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F1B3D"/>
                </a:solidFill>
                <a:latin typeface="Calibri" pitchFamily="34" charset="0"/>
                <a:ea typeface="Calibri" pitchFamily="34" charset="-122"/>
                <a:cs typeface="Calibri" pitchFamily="34" charset="-120"/>
              </a:rPr>
              <a:t>Current limitations</a:t>
            </a:r>
            <a:endParaRPr lang="en-US" sz="3200" dirty="0"/>
          </a:p>
        </p:txBody>
      </p:sp>
      <p:sp>
        <p:nvSpPr>
          <p:cNvPr id="3" name="Shape 1"/>
          <p:cNvSpPr/>
          <p:nvPr/>
        </p:nvSpPr>
        <p:spPr>
          <a:xfrm>
            <a:off x="457200" y="1097280"/>
            <a:ext cx="402336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4" name="Shape 2"/>
          <p:cNvSpPr/>
          <p:nvPr/>
        </p:nvSpPr>
        <p:spPr>
          <a:xfrm>
            <a:off x="685800" y="1325880"/>
            <a:ext cx="640080" cy="64008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5" name="Image 0" descr="C:\Users\Admin\AppData\Local\Temp\claude\d--SmartTutor\5ff2c210-ed39-47c1-9187-8611ef6ccd50\scratchpad\deck\emoji\laptop.png">    </p:cNvPr>
          <p:cNvPicPr>
            <a:picLocks noChangeAspect="1"/>
          </p:cNvPicPr>
          <p:nvPr/>
        </p:nvPicPr>
        <p:blipFill>
          <a:blip r:embed="rId1"/>
          <a:stretch>
            <a:fillRect/>
          </a:stretch>
        </p:blipFill>
        <p:spPr>
          <a:xfrm>
            <a:off x="788213" y="1428293"/>
            <a:ext cx="435254" cy="435254"/>
          </a:xfrm>
          <a:prstGeom prst="rect">
            <a:avLst/>
          </a:prstGeom>
        </p:spPr>
      </p:pic>
      <p:sp>
        <p:nvSpPr>
          <p:cNvPr id="6" name="Text 3"/>
          <p:cNvSpPr txBox="1"/>
          <p:nvPr/>
        </p:nvSpPr>
        <p:spPr>
          <a:xfrm>
            <a:off x="1508760" y="1298448"/>
            <a:ext cx="2834640" cy="347472"/>
          </a:xfrm>
          <a:prstGeom prst="rect">
            <a:avLst/>
          </a:prstGeom>
          <a:noFill/>
          <a:ln/>
        </p:spPr>
        <p:txBody>
          <a:bodyPr wrap="square" lIns="0" tIns="0" rIns="0" bIns="0" rtlCol="0" anchor="t"/>
          <a:lstStyle/>
          <a:p>
            <a:pPr indent="0" marL="0">
              <a:buNone/>
            </a:pPr>
            <a:r>
              <a:rPr lang="en-US" sz="1600" b="1" dirty="0">
                <a:solidFill>
                  <a:srgbClr val="0F1B3D"/>
                </a:solidFill>
                <a:latin typeface="Calibri" pitchFamily="34" charset="0"/>
                <a:ea typeface="Calibri" pitchFamily="34" charset="-122"/>
                <a:cs typeface="Calibri" pitchFamily="34" charset="-120"/>
              </a:rPr>
              <a:t>Runs on a laptop</a:t>
            </a:r>
            <a:endParaRPr lang="en-US" sz="1600" dirty="0"/>
          </a:p>
        </p:txBody>
      </p:sp>
      <p:sp>
        <p:nvSpPr>
          <p:cNvPr id="7" name="Text 4"/>
          <p:cNvSpPr txBox="1"/>
          <p:nvPr/>
        </p:nvSpPr>
        <p:spPr>
          <a:xfrm>
            <a:off x="1508760" y="1645920"/>
            <a:ext cx="2834640" cy="457200"/>
          </a:xfrm>
          <a:prstGeom prst="rect">
            <a:avLst/>
          </a:prstGeom>
          <a:noFill/>
          <a:ln/>
        </p:spPr>
        <p:txBody>
          <a:bodyPr wrap="square" lIns="0" tIns="0" rIns="0" bIns="0" rtlCol="0" anchor="t"/>
          <a:lstStyle/>
          <a:p>
            <a:pPr indent="0" marL="0">
              <a:buNone/>
            </a:pPr>
            <a:r>
              <a:rPr lang="en-US" sz="1200" dirty="0">
                <a:solidFill>
                  <a:srgbClr val="5B6480"/>
                </a:solidFill>
                <a:latin typeface="Calibri" pitchFamily="34" charset="0"/>
                <a:ea typeface="Calibri" pitchFamily="34" charset="-122"/>
                <a:cs typeface="Calibri" pitchFamily="34" charset="-120"/>
              </a:rPr>
              <a:t>Task status lives in memory and is lost on restart.</a:t>
            </a:r>
            <a:endParaRPr lang="en-US" sz="1200" dirty="0"/>
          </a:p>
        </p:txBody>
      </p:sp>
      <p:sp>
        <p:nvSpPr>
          <p:cNvPr id="8" name="Text 5"/>
          <p:cNvSpPr txBox="1"/>
          <p:nvPr/>
        </p:nvSpPr>
        <p:spPr>
          <a:xfrm>
            <a:off x="1508760" y="2167128"/>
            <a:ext cx="2834640" cy="320040"/>
          </a:xfrm>
          <a:prstGeom prst="rect">
            <a:avLst/>
          </a:prstGeom>
          <a:noFill/>
          <a:ln/>
        </p:spPr>
        <p:txBody>
          <a:bodyPr wrap="square" lIns="0" tIns="0" rIns="0" bIns="0" rtlCol="0" anchor="t"/>
          <a:lstStyle/>
          <a:p>
            <a:pPr indent="0" marL="0">
              <a:buNone/>
            </a:pPr>
            <a:r>
              <a:rPr lang="en-US" sz="1200" b="1" dirty="0">
                <a:solidFill>
                  <a:srgbClr val="1446D6"/>
                </a:solidFill>
                <a:latin typeface="Calibri" pitchFamily="34" charset="0"/>
                <a:ea typeface="Calibri" pitchFamily="34" charset="-122"/>
                <a:cs typeface="Calibri" pitchFamily="34" charset="-120"/>
              </a:rPr>
              <a:t>Next: cloud VM, Redis or a database</a:t>
            </a:r>
            <a:endParaRPr lang="en-US" sz="1200" dirty="0"/>
          </a:p>
        </p:txBody>
      </p:sp>
      <p:sp>
        <p:nvSpPr>
          <p:cNvPr id="9" name="Shape 6"/>
          <p:cNvSpPr/>
          <p:nvPr/>
        </p:nvSpPr>
        <p:spPr>
          <a:xfrm>
            <a:off x="4663440" y="1097280"/>
            <a:ext cx="402336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10" name="Shape 7"/>
          <p:cNvSpPr/>
          <p:nvPr/>
        </p:nvSpPr>
        <p:spPr>
          <a:xfrm>
            <a:off x="4892040" y="1325880"/>
            <a:ext cx="640080" cy="64008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1" name="Image 1" descr="C:\Users\Admin\AppData\Local\Temp\claude\d--SmartTutor\5ff2c210-ed39-47c1-9187-8611ef6ccd50\scratchpad\deck\emoji\busts.png">    </p:cNvPr>
          <p:cNvPicPr>
            <a:picLocks noChangeAspect="1"/>
          </p:cNvPicPr>
          <p:nvPr/>
        </p:nvPicPr>
        <p:blipFill>
          <a:blip r:embed="rId2"/>
          <a:stretch>
            <a:fillRect/>
          </a:stretch>
        </p:blipFill>
        <p:spPr>
          <a:xfrm>
            <a:off x="4994453" y="1428293"/>
            <a:ext cx="435254" cy="435254"/>
          </a:xfrm>
          <a:prstGeom prst="rect">
            <a:avLst/>
          </a:prstGeom>
        </p:spPr>
      </p:pic>
      <p:sp>
        <p:nvSpPr>
          <p:cNvPr id="12" name="Text 8"/>
          <p:cNvSpPr txBox="1"/>
          <p:nvPr/>
        </p:nvSpPr>
        <p:spPr>
          <a:xfrm>
            <a:off x="5715000" y="1298448"/>
            <a:ext cx="2834640" cy="347472"/>
          </a:xfrm>
          <a:prstGeom prst="rect">
            <a:avLst/>
          </a:prstGeom>
          <a:noFill/>
          <a:ln/>
        </p:spPr>
        <p:txBody>
          <a:bodyPr wrap="square" lIns="0" tIns="0" rIns="0" bIns="0" rtlCol="0" anchor="t"/>
          <a:lstStyle/>
          <a:p>
            <a:pPr indent="0" marL="0">
              <a:buNone/>
            </a:pPr>
            <a:r>
              <a:rPr lang="en-US" sz="1600" b="1" dirty="0">
                <a:solidFill>
                  <a:srgbClr val="0F1B3D"/>
                </a:solidFill>
                <a:latin typeface="Calibri" pitchFamily="34" charset="0"/>
                <a:ea typeface="Calibri" pitchFamily="34" charset="-122"/>
                <a:cs typeface="Calibri" pitchFamily="34" charset="-120"/>
              </a:rPr>
              <a:t>No limit on parallel jobs</a:t>
            </a:r>
            <a:endParaRPr lang="en-US" sz="1600" dirty="0"/>
          </a:p>
        </p:txBody>
      </p:sp>
      <p:sp>
        <p:nvSpPr>
          <p:cNvPr id="13" name="Text 9"/>
          <p:cNvSpPr txBox="1"/>
          <p:nvPr/>
        </p:nvSpPr>
        <p:spPr>
          <a:xfrm>
            <a:off x="5715000" y="1645920"/>
            <a:ext cx="2834640" cy="457200"/>
          </a:xfrm>
          <a:prstGeom prst="rect">
            <a:avLst/>
          </a:prstGeom>
          <a:noFill/>
          <a:ln/>
        </p:spPr>
        <p:txBody>
          <a:bodyPr wrap="square" lIns="0" tIns="0" rIns="0" bIns="0" rtlCol="0" anchor="t"/>
          <a:lstStyle/>
          <a:p>
            <a:pPr indent="0" marL="0">
              <a:buNone/>
            </a:pPr>
            <a:r>
              <a:rPr lang="en-US" sz="1200" dirty="0">
                <a:solidFill>
                  <a:srgbClr val="5B6480"/>
                </a:solidFill>
                <a:latin typeface="Calibri" pitchFamily="34" charset="0"/>
                <a:ea typeface="Calibri" pitchFamily="34" charset="-122"/>
                <a:cs typeface="Calibri" pitchFamily="34" charset="-120"/>
              </a:rPr>
              <a:t>Several uploads at once slow the machine down.</a:t>
            </a:r>
            <a:endParaRPr lang="en-US" sz="1200" dirty="0"/>
          </a:p>
        </p:txBody>
      </p:sp>
      <p:sp>
        <p:nvSpPr>
          <p:cNvPr id="14" name="Text 10"/>
          <p:cNvSpPr txBox="1"/>
          <p:nvPr/>
        </p:nvSpPr>
        <p:spPr>
          <a:xfrm>
            <a:off x="5715000" y="2167128"/>
            <a:ext cx="2834640" cy="320040"/>
          </a:xfrm>
          <a:prstGeom prst="rect">
            <a:avLst/>
          </a:prstGeom>
          <a:noFill/>
          <a:ln/>
        </p:spPr>
        <p:txBody>
          <a:bodyPr wrap="square" lIns="0" tIns="0" rIns="0" bIns="0" rtlCol="0" anchor="t"/>
          <a:lstStyle/>
          <a:p>
            <a:pPr indent="0" marL="0">
              <a:buNone/>
            </a:pPr>
            <a:r>
              <a:rPr lang="en-US" sz="1200" b="1" dirty="0">
                <a:solidFill>
                  <a:srgbClr val="1446D6"/>
                </a:solidFill>
                <a:latin typeface="Calibri" pitchFamily="34" charset="0"/>
                <a:ea typeface="Calibri" pitchFamily="34" charset="-122"/>
                <a:cs typeface="Calibri" pitchFamily="34" charset="-120"/>
              </a:rPr>
              <a:t>Next: a job queue and render workers</a:t>
            </a:r>
            <a:endParaRPr lang="en-US" sz="1200" dirty="0"/>
          </a:p>
        </p:txBody>
      </p:sp>
      <p:sp>
        <p:nvSpPr>
          <p:cNvPr id="15" name="Shape 11"/>
          <p:cNvSpPr/>
          <p:nvPr/>
        </p:nvSpPr>
        <p:spPr>
          <a:xfrm>
            <a:off x="457200" y="2880360"/>
            <a:ext cx="402336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16" name="Shape 12"/>
          <p:cNvSpPr/>
          <p:nvPr/>
        </p:nvSpPr>
        <p:spPr>
          <a:xfrm>
            <a:off x="685800" y="3108960"/>
            <a:ext cx="640080" cy="64008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7" name="Image 2" descr="C:\Users\Admin\AppData\Local\Temp\claude\d--SmartTutor\5ff2c210-ed39-47c1-9187-8611ef6ccd50\scratchpad\deck\emoji\hourglass.png">    </p:cNvPr>
          <p:cNvPicPr>
            <a:picLocks noChangeAspect="1"/>
          </p:cNvPicPr>
          <p:nvPr/>
        </p:nvPicPr>
        <p:blipFill>
          <a:blip r:embed="rId3"/>
          <a:stretch>
            <a:fillRect/>
          </a:stretch>
        </p:blipFill>
        <p:spPr>
          <a:xfrm>
            <a:off x="788213" y="3211373"/>
            <a:ext cx="435254" cy="435254"/>
          </a:xfrm>
          <a:prstGeom prst="rect">
            <a:avLst/>
          </a:prstGeom>
        </p:spPr>
      </p:pic>
      <p:sp>
        <p:nvSpPr>
          <p:cNvPr id="18" name="Text 13"/>
          <p:cNvSpPr txBox="1"/>
          <p:nvPr/>
        </p:nvSpPr>
        <p:spPr>
          <a:xfrm>
            <a:off x="1508760" y="3081528"/>
            <a:ext cx="2834640" cy="347472"/>
          </a:xfrm>
          <a:prstGeom prst="rect">
            <a:avLst/>
          </a:prstGeom>
          <a:noFill/>
          <a:ln/>
        </p:spPr>
        <p:txBody>
          <a:bodyPr wrap="square" lIns="0" tIns="0" rIns="0" bIns="0" rtlCol="0" anchor="t"/>
          <a:lstStyle/>
          <a:p>
            <a:pPr indent="0" marL="0">
              <a:buNone/>
            </a:pPr>
            <a:r>
              <a:rPr lang="en-US" sz="1600" b="1" dirty="0">
                <a:solidFill>
                  <a:srgbClr val="0F1B3D"/>
                </a:solidFill>
                <a:latin typeface="Calibri" pitchFamily="34" charset="0"/>
                <a:ea typeface="Calibri" pitchFamily="34" charset="-122"/>
                <a:cs typeface="Calibri" pitchFamily="34" charset="-120"/>
              </a:rPr>
              <a:t>Minutes per course</a:t>
            </a:r>
            <a:endParaRPr lang="en-US" sz="1600" dirty="0"/>
          </a:p>
        </p:txBody>
      </p:sp>
      <p:sp>
        <p:nvSpPr>
          <p:cNvPr id="19" name="Text 14"/>
          <p:cNvSpPr txBox="1"/>
          <p:nvPr/>
        </p:nvSpPr>
        <p:spPr>
          <a:xfrm>
            <a:off x="1508760" y="3429000"/>
            <a:ext cx="2834640" cy="457200"/>
          </a:xfrm>
          <a:prstGeom prst="rect">
            <a:avLst/>
          </a:prstGeom>
          <a:noFill/>
          <a:ln/>
        </p:spPr>
        <p:txBody>
          <a:bodyPr wrap="square" lIns="0" tIns="0" rIns="0" bIns="0" rtlCol="0" anchor="t"/>
          <a:lstStyle/>
          <a:p>
            <a:pPr indent="0" marL="0">
              <a:buNone/>
            </a:pPr>
            <a:r>
              <a:rPr lang="en-US" sz="1200" dirty="0">
                <a:solidFill>
                  <a:srgbClr val="5B6480"/>
                </a:solidFill>
                <a:latin typeface="Calibri" pitchFamily="34" charset="0"/>
                <a:ea typeface="Calibri" pitchFamily="34" charset="-122"/>
                <a:cs typeface="Calibri" pitchFamily="34" charset="-120"/>
              </a:rPr>
              <a:t>Rendering runs at about real time.</a:t>
            </a:r>
            <a:endParaRPr lang="en-US" sz="1200" dirty="0"/>
          </a:p>
        </p:txBody>
      </p:sp>
      <p:sp>
        <p:nvSpPr>
          <p:cNvPr id="20" name="Text 15"/>
          <p:cNvSpPr txBox="1"/>
          <p:nvPr/>
        </p:nvSpPr>
        <p:spPr>
          <a:xfrm>
            <a:off x="1508760" y="3950208"/>
            <a:ext cx="2834640" cy="320040"/>
          </a:xfrm>
          <a:prstGeom prst="rect">
            <a:avLst/>
          </a:prstGeom>
          <a:noFill/>
          <a:ln/>
        </p:spPr>
        <p:txBody>
          <a:bodyPr wrap="square" lIns="0" tIns="0" rIns="0" bIns="0" rtlCol="0" anchor="t"/>
          <a:lstStyle/>
          <a:p>
            <a:pPr indent="0" marL="0">
              <a:buNone/>
            </a:pPr>
            <a:r>
              <a:rPr lang="en-US" sz="1200" b="1" dirty="0">
                <a:solidFill>
                  <a:srgbClr val="1446D6"/>
                </a:solidFill>
                <a:latin typeface="Calibri" pitchFamily="34" charset="0"/>
                <a:ea typeface="Calibri" pitchFamily="34" charset="-122"/>
                <a:cs typeface="Calibri" pitchFamily="34" charset="-120"/>
              </a:rPr>
              <a:t>Next: parallel rendering in the cloud</a:t>
            </a:r>
            <a:endParaRPr lang="en-US" sz="1200" dirty="0"/>
          </a:p>
        </p:txBody>
      </p:sp>
      <p:sp>
        <p:nvSpPr>
          <p:cNvPr id="21" name="Shape 16"/>
          <p:cNvSpPr/>
          <p:nvPr/>
        </p:nvSpPr>
        <p:spPr>
          <a:xfrm>
            <a:off x="4663440" y="2880360"/>
            <a:ext cx="402336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sp>
        <p:nvSpPr>
          <p:cNvPr id="22" name="Shape 17"/>
          <p:cNvSpPr/>
          <p:nvPr/>
        </p:nvSpPr>
        <p:spPr>
          <a:xfrm>
            <a:off x="4892040" y="3108960"/>
            <a:ext cx="640080" cy="64008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23" name="Image 3" descr="C:\Users\Admin\AppData\Local\Temp\claude\d--SmartTutor\5ff2c210-ed39-47c1-9187-8611ef6ccd50\scratchpad\deck\emoji\lock.png">    </p:cNvPr>
          <p:cNvPicPr>
            <a:picLocks noChangeAspect="1"/>
          </p:cNvPicPr>
          <p:nvPr/>
        </p:nvPicPr>
        <p:blipFill>
          <a:blip r:embed="rId4"/>
          <a:stretch>
            <a:fillRect/>
          </a:stretch>
        </p:blipFill>
        <p:spPr>
          <a:xfrm>
            <a:off x="4994453" y="3211373"/>
            <a:ext cx="435254" cy="435254"/>
          </a:xfrm>
          <a:prstGeom prst="rect">
            <a:avLst/>
          </a:prstGeom>
        </p:spPr>
      </p:pic>
      <p:sp>
        <p:nvSpPr>
          <p:cNvPr id="24" name="Text 18"/>
          <p:cNvSpPr txBox="1"/>
          <p:nvPr/>
        </p:nvSpPr>
        <p:spPr>
          <a:xfrm>
            <a:off x="5715000" y="3081528"/>
            <a:ext cx="2834640" cy="347472"/>
          </a:xfrm>
          <a:prstGeom prst="rect">
            <a:avLst/>
          </a:prstGeom>
          <a:noFill/>
          <a:ln/>
        </p:spPr>
        <p:txBody>
          <a:bodyPr wrap="square" lIns="0" tIns="0" rIns="0" bIns="0" rtlCol="0" anchor="t"/>
          <a:lstStyle/>
          <a:p>
            <a:pPr indent="0" marL="0">
              <a:buNone/>
            </a:pPr>
            <a:r>
              <a:rPr lang="en-US" sz="1600" b="1" dirty="0">
                <a:solidFill>
                  <a:srgbClr val="0F1B3D"/>
                </a:solidFill>
                <a:latin typeface="Calibri" pitchFamily="34" charset="0"/>
                <a:ea typeface="Calibri" pitchFamily="34" charset="-122"/>
                <a:cs typeface="Calibri" pitchFamily="34" charset="-120"/>
              </a:rPr>
              <a:t>No accounts yet</a:t>
            </a:r>
            <a:endParaRPr lang="en-US" sz="1600" dirty="0"/>
          </a:p>
        </p:txBody>
      </p:sp>
      <p:sp>
        <p:nvSpPr>
          <p:cNvPr id="25" name="Text 19"/>
          <p:cNvSpPr txBox="1"/>
          <p:nvPr/>
        </p:nvSpPr>
        <p:spPr>
          <a:xfrm>
            <a:off x="5715000" y="3429000"/>
            <a:ext cx="2834640" cy="457200"/>
          </a:xfrm>
          <a:prstGeom prst="rect">
            <a:avLst/>
          </a:prstGeom>
          <a:noFill/>
          <a:ln/>
        </p:spPr>
        <p:txBody>
          <a:bodyPr wrap="square" lIns="0" tIns="0" rIns="0" bIns="0" rtlCol="0" anchor="t"/>
          <a:lstStyle/>
          <a:p>
            <a:pPr indent="0" marL="0">
              <a:buNone/>
            </a:pPr>
            <a:r>
              <a:rPr lang="en-US" sz="1200" dirty="0">
                <a:solidFill>
                  <a:srgbClr val="5B6480"/>
                </a:solidFill>
                <a:latin typeface="Calibri" pitchFamily="34" charset="0"/>
                <a:ea typeface="Calibri" pitchFamily="34" charset="-122"/>
                <a:cs typeface="Calibri" pitchFamily="34" charset="-120"/>
              </a:rPr>
              <a:t>No login, roles or file retention policy.</a:t>
            </a:r>
            <a:endParaRPr lang="en-US" sz="1200" dirty="0"/>
          </a:p>
        </p:txBody>
      </p:sp>
      <p:sp>
        <p:nvSpPr>
          <p:cNvPr id="26" name="Text 20"/>
          <p:cNvSpPr txBox="1"/>
          <p:nvPr/>
        </p:nvSpPr>
        <p:spPr>
          <a:xfrm>
            <a:off x="5715000" y="3950208"/>
            <a:ext cx="2834640" cy="320040"/>
          </a:xfrm>
          <a:prstGeom prst="rect">
            <a:avLst/>
          </a:prstGeom>
          <a:noFill/>
          <a:ln/>
        </p:spPr>
        <p:txBody>
          <a:bodyPr wrap="square" lIns="0" tIns="0" rIns="0" bIns="0" rtlCol="0" anchor="t"/>
          <a:lstStyle/>
          <a:p>
            <a:pPr indent="0" marL="0">
              <a:buNone/>
            </a:pPr>
            <a:r>
              <a:rPr lang="en-US" sz="1200" b="1" dirty="0">
                <a:solidFill>
                  <a:srgbClr val="1446D6"/>
                </a:solidFill>
                <a:latin typeface="Calibri" pitchFamily="34" charset="0"/>
                <a:ea typeface="Calibri" pitchFamily="34" charset="-122"/>
                <a:cs typeface="Calibri" pitchFamily="34" charset="-120"/>
              </a:rPr>
              <a:t>Next: authentication and auto-cleanup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3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Roadmap</a:t>
            </a:r>
            <a:endParaRPr lang="en-US" sz="3200" dirty="0"/>
          </a:p>
        </p:txBody>
      </p:sp>
      <p:sp>
        <p:nvSpPr>
          <p:cNvPr id="3" name="Shape 1"/>
          <p:cNvSpPr/>
          <p:nvPr/>
        </p:nvSpPr>
        <p:spPr>
          <a:xfrm>
            <a:off x="457200" y="1143000"/>
            <a:ext cx="731520" cy="73152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4" name="Image 0" descr="C:\Users\Admin\AppData\Local\Temp\claude\d--SmartTutor\5ff2c210-ed39-47c1-9187-8611ef6ccd50\scratchpad\deck\emoji\cloud.png">    </p:cNvPr>
          <p:cNvPicPr>
            <a:picLocks noChangeAspect="1"/>
          </p:cNvPicPr>
          <p:nvPr/>
        </p:nvPicPr>
        <p:blipFill>
          <a:blip r:embed="rId1"/>
          <a:stretch>
            <a:fillRect/>
          </a:stretch>
        </p:blipFill>
        <p:spPr>
          <a:xfrm>
            <a:off x="574243" y="1260043"/>
            <a:ext cx="497434" cy="497434"/>
          </a:xfrm>
          <a:prstGeom prst="rect">
            <a:avLst/>
          </a:prstGeom>
        </p:spPr>
      </p:pic>
      <p:sp>
        <p:nvSpPr>
          <p:cNvPr id="5" name="Text 2"/>
          <p:cNvSpPr txBox="1"/>
          <p:nvPr/>
        </p:nvSpPr>
        <p:spPr>
          <a:xfrm>
            <a:off x="1371600" y="1197864"/>
            <a:ext cx="3108960" cy="32918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Cloud, queue and parallel rendering</a:t>
            </a:r>
            <a:endParaRPr lang="en-US" sz="1500" dirty="0"/>
          </a:p>
        </p:txBody>
      </p:sp>
      <p:sp>
        <p:nvSpPr>
          <p:cNvPr id="6" name="Text 3"/>
          <p:cNvSpPr txBox="1"/>
          <p:nvPr/>
        </p:nvSpPr>
        <p:spPr>
          <a:xfrm>
            <a:off x="1371600" y="1527048"/>
            <a:ext cx="3108960" cy="292608"/>
          </a:xfrm>
          <a:prstGeom prst="rect">
            <a:avLst/>
          </a:prstGeom>
          <a:noFill/>
          <a:ln/>
        </p:spPr>
        <p:txBody>
          <a:bodyPr wrap="square" lIns="0" tIns="0" rIns="0" bIns="0" rtlCol="0" anchor="t"/>
          <a:lstStyle/>
          <a:p>
            <a:pPr indent="0" marL="0">
              <a:buNone/>
            </a:pPr>
            <a:r>
              <a:rPr lang="en-US" sz="1200" dirty="0">
                <a:solidFill>
                  <a:srgbClr val="C9D3EE"/>
                </a:solidFill>
                <a:latin typeface="Calibri" pitchFamily="34" charset="0"/>
                <a:ea typeface="Calibri" pitchFamily="34" charset="-122"/>
                <a:cs typeface="Calibri" pitchFamily="34" charset="-120"/>
              </a:rPr>
              <a:t>Many users at once, seconds per course</a:t>
            </a:r>
            <a:endParaRPr lang="en-US" sz="1200" dirty="0"/>
          </a:p>
        </p:txBody>
      </p:sp>
      <p:sp>
        <p:nvSpPr>
          <p:cNvPr id="7" name="Shape 4"/>
          <p:cNvSpPr/>
          <p:nvPr/>
        </p:nvSpPr>
        <p:spPr>
          <a:xfrm>
            <a:off x="4663440" y="1143000"/>
            <a:ext cx="731520" cy="73152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8" name="Image 1" descr="C:\Users\Admin\AppData\Local\Temp\claude\d--SmartTutor\5ff2c210-ed39-47c1-9187-8611ef6ccd50\scratchpad\deck\emoji\memo.png">    </p:cNvPr>
          <p:cNvPicPr>
            <a:picLocks noChangeAspect="1"/>
          </p:cNvPicPr>
          <p:nvPr/>
        </p:nvPicPr>
        <p:blipFill>
          <a:blip r:embed="rId2"/>
          <a:stretch>
            <a:fillRect/>
          </a:stretch>
        </p:blipFill>
        <p:spPr>
          <a:xfrm>
            <a:off x="4780483" y="1260043"/>
            <a:ext cx="497434" cy="497434"/>
          </a:xfrm>
          <a:prstGeom prst="rect">
            <a:avLst/>
          </a:prstGeom>
        </p:spPr>
      </p:pic>
      <p:sp>
        <p:nvSpPr>
          <p:cNvPr id="9" name="Text 5"/>
          <p:cNvSpPr txBox="1"/>
          <p:nvPr/>
        </p:nvSpPr>
        <p:spPr>
          <a:xfrm>
            <a:off x="5577840" y="1197864"/>
            <a:ext cx="3108960" cy="32918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Review before rendering</a:t>
            </a:r>
            <a:endParaRPr lang="en-US" sz="1500" dirty="0"/>
          </a:p>
        </p:txBody>
      </p:sp>
      <p:sp>
        <p:nvSpPr>
          <p:cNvPr id="10" name="Text 6"/>
          <p:cNvSpPr txBox="1"/>
          <p:nvPr/>
        </p:nvSpPr>
        <p:spPr>
          <a:xfrm>
            <a:off x="5577840" y="1527048"/>
            <a:ext cx="3108960" cy="292608"/>
          </a:xfrm>
          <a:prstGeom prst="rect">
            <a:avLst/>
          </a:prstGeom>
          <a:noFill/>
          <a:ln/>
        </p:spPr>
        <p:txBody>
          <a:bodyPr wrap="square" lIns="0" tIns="0" rIns="0" bIns="0" rtlCol="0" anchor="t"/>
          <a:lstStyle/>
          <a:p>
            <a:pPr indent="0" marL="0">
              <a:buNone/>
            </a:pPr>
            <a:r>
              <a:rPr lang="en-US" sz="1200" dirty="0">
                <a:solidFill>
                  <a:srgbClr val="C9D3EE"/>
                </a:solidFill>
                <a:latin typeface="Calibri" pitchFamily="34" charset="0"/>
                <a:ea typeface="Calibri" pitchFamily="34" charset="-122"/>
                <a:cs typeface="Calibri" pitchFamily="34" charset="-120"/>
              </a:rPr>
              <a:t>HR edits the script to control content</a:t>
            </a:r>
            <a:endParaRPr lang="en-US" sz="1200" dirty="0"/>
          </a:p>
        </p:txBody>
      </p:sp>
      <p:sp>
        <p:nvSpPr>
          <p:cNvPr id="11" name="Shape 7"/>
          <p:cNvSpPr/>
          <p:nvPr/>
        </p:nvSpPr>
        <p:spPr>
          <a:xfrm>
            <a:off x="457200" y="2240280"/>
            <a:ext cx="731520" cy="73152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2" name="Image 2" descr="C:\Users\Admin\AppData\Local\Temp\claude\d--SmartTutor\5ff2c210-ed39-47c1-9187-8611ef6ccd50\scratchpad\deck\emoji\cap.png">    </p:cNvPr>
          <p:cNvPicPr>
            <a:picLocks noChangeAspect="1"/>
          </p:cNvPicPr>
          <p:nvPr/>
        </p:nvPicPr>
        <p:blipFill>
          <a:blip r:embed="rId3"/>
          <a:stretch>
            <a:fillRect/>
          </a:stretch>
        </p:blipFill>
        <p:spPr>
          <a:xfrm>
            <a:off x="574243" y="2357323"/>
            <a:ext cx="497434" cy="497434"/>
          </a:xfrm>
          <a:prstGeom prst="rect">
            <a:avLst/>
          </a:prstGeom>
        </p:spPr>
      </p:pic>
      <p:sp>
        <p:nvSpPr>
          <p:cNvPr id="13" name="Text 8"/>
          <p:cNvSpPr txBox="1"/>
          <p:nvPr/>
        </p:nvSpPr>
        <p:spPr>
          <a:xfrm>
            <a:off x="1371600" y="2295144"/>
            <a:ext cx="3108960" cy="32918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Scored quizzes and LMS export</a:t>
            </a:r>
            <a:endParaRPr lang="en-US" sz="1500" dirty="0"/>
          </a:p>
        </p:txBody>
      </p:sp>
      <p:sp>
        <p:nvSpPr>
          <p:cNvPr id="14" name="Text 9"/>
          <p:cNvSpPr txBox="1"/>
          <p:nvPr/>
        </p:nvSpPr>
        <p:spPr>
          <a:xfrm>
            <a:off x="1371600" y="2624328"/>
            <a:ext cx="3108960" cy="292608"/>
          </a:xfrm>
          <a:prstGeom prst="rect">
            <a:avLst/>
          </a:prstGeom>
          <a:noFill/>
          <a:ln/>
        </p:spPr>
        <p:txBody>
          <a:bodyPr wrap="square" lIns="0" tIns="0" rIns="0" bIns="0" rtlCol="0" anchor="t"/>
          <a:lstStyle/>
          <a:p>
            <a:pPr indent="0" marL="0">
              <a:buNone/>
            </a:pPr>
            <a:r>
              <a:rPr lang="en-US" sz="1200" dirty="0">
                <a:solidFill>
                  <a:srgbClr val="C9D3EE"/>
                </a:solidFill>
                <a:latin typeface="Calibri" pitchFamily="34" charset="0"/>
                <a:ea typeface="Calibri" pitchFamily="34" charset="-122"/>
                <a:cs typeface="Calibri" pitchFamily="34" charset="-120"/>
              </a:rPr>
              <a:t>Fits the company's existing learning platform</a:t>
            </a:r>
            <a:endParaRPr lang="en-US" sz="1200" dirty="0"/>
          </a:p>
        </p:txBody>
      </p:sp>
      <p:sp>
        <p:nvSpPr>
          <p:cNvPr id="15" name="Shape 10"/>
          <p:cNvSpPr/>
          <p:nvPr/>
        </p:nvSpPr>
        <p:spPr>
          <a:xfrm>
            <a:off x="4663440" y="2240280"/>
            <a:ext cx="731520" cy="73152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16" name="Image 3" descr="C:\Users\Admin\AppData\Local\Temp\claude\d--SmartTutor\5ff2c210-ed39-47c1-9187-8611ef6ccd50\scratchpad\deck\emoji\chart.png">    </p:cNvPr>
          <p:cNvPicPr>
            <a:picLocks noChangeAspect="1"/>
          </p:cNvPicPr>
          <p:nvPr/>
        </p:nvPicPr>
        <p:blipFill>
          <a:blip r:embed="rId4"/>
          <a:stretch>
            <a:fillRect/>
          </a:stretch>
        </p:blipFill>
        <p:spPr>
          <a:xfrm>
            <a:off x="4780483" y="2357323"/>
            <a:ext cx="497434" cy="497434"/>
          </a:xfrm>
          <a:prstGeom prst="rect">
            <a:avLst/>
          </a:prstGeom>
        </p:spPr>
      </p:pic>
      <p:sp>
        <p:nvSpPr>
          <p:cNvPr id="17" name="Text 11"/>
          <p:cNvSpPr txBox="1"/>
          <p:nvPr/>
        </p:nvSpPr>
        <p:spPr>
          <a:xfrm>
            <a:off x="5577840" y="2295144"/>
            <a:ext cx="3108960" cy="32918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Accounts and learning history</a:t>
            </a:r>
            <a:endParaRPr lang="en-US" sz="1500" dirty="0"/>
          </a:p>
        </p:txBody>
      </p:sp>
      <p:sp>
        <p:nvSpPr>
          <p:cNvPr id="18" name="Text 12"/>
          <p:cNvSpPr txBox="1"/>
          <p:nvPr/>
        </p:nvSpPr>
        <p:spPr>
          <a:xfrm>
            <a:off x="5577840" y="2624328"/>
            <a:ext cx="3108960" cy="292608"/>
          </a:xfrm>
          <a:prstGeom prst="rect">
            <a:avLst/>
          </a:prstGeom>
          <a:noFill/>
          <a:ln/>
        </p:spPr>
        <p:txBody>
          <a:bodyPr wrap="square" lIns="0" tIns="0" rIns="0" bIns="0" rtlCol="0" anchor="t"/>
          <a:lstStyle/>
          <a:p>
            <a:pPr indent="0" marL="0">
              <a:buNone/>
            </a:pPr>
            <a:r>
              <a:rPr lang="en-US" sz="1200" dirty="0">
                <a:solidFill>
                  <a:srgbClr val="C9D3EE"/>
                </a:solidFill>
                <a:latin typeface="Calibri" pitchFamily="34" charset="0"/>
                <a:ea typeface="Calibri" pitchFamily="34" charset="-122"/>
                <a:cs typeface="Calibri" pitchFamily="34" charset="-120"/>
              </a:rPr>
              <a:t>Track who has completed each course</a:t>
            </a:r>
            <a:endParaRPr lang="en-US" sz="1200" dirty="0"/>
          </a:p>
        </p:txBody>
      </p:sp>
      <p:sp>
        <p:nvSpPr>
          <p:cNvPr id="19" name="Shape 13"/>
          <p:cNvSpPr/>
          <p:nvPr/>
        </p:nvSpPr>
        <p:spPr>
          <a:xfrm>
            <a:off x="457200" y="3611880"/>
            <a:ext cx="8229600" cy="868680"/>
          </a:xfrm>
          <a:prstGeom prst="roundRect">
            <a:avLst>
              <a:gd name="adj" fmla="val 12632"/>
            </a:avLst>
          </a:prstGeom>
          <a:solidFill>
            <a:srgbClr val="1B2A55"/>
          </a:solidFill>
          <a:ln w="12700">
            <a:solidFill>
              <a:srgbClr val="1B2A55"/>
            </a:solidFill>
            <a:prstDash val="solid"/>
          </a:ln>
        </p:spPr>
      </p:sp>
      <p:pic>
        <p:nvPicPr>
          <p:cNvPr id="20" name="Image 4" descr="C:\Users\Admin\AppData\Local\Temp\claude\d--SmartTutor\5ff2c210-ed39-47c1-9187-8611ef6ccd50\scratchpad\deck\emoji\rocket.png">    </p:cNvPr>
          <p:cNvPicPr>
            <a:picLocks noChangeAspect="1"/>
          </p:cNvPicPr>
          <p:nvPr/>
        </p:nvPicPr>
        <p:blipFill>
          <a:blip r:embed="rId5"/>
          <a:stretch>
            <a:fillRect/>
          </a:stretch>
        </p:blipFill>
        <p:spPr>
          <a:xfrm>
            <a:off x="685800" y="3767328"/>
            <a:ext cx="548640" cy="548640"/>
          </a:xfrm>
          <a:prstGeom prst="rect">
            <a:avLst/>
          </a:prstGeom>
        </p:spPr>
      </p:pic>
      <p:sp>
        <p:nvSpPr>
          <p:cNvPr id="21" name="Text 14"/>
          <p:cNvSpPr txBox="1"/>
          <p:nvPr/>
        </p:nvSpPr>
        <p:spPr>
          <a:xfrm>
            <a:off x="1417320" y="3611880"/>
            <a:ext cx="7132320" cy="868680"/>
          </a:xfrm>
          <a:prstGeom prst="rect">
            <a:avLst/>
          </a:prstGeom>
          <a:noFill/>
          <a:ln/>
        </p:spPr>
        <p:txBody>
          <a:bodyPr wrap="square" lIns="0" tIns="0" rIns="0" bIns="0" rtlCol="0" anchor="ctr"/>
          <a:lstStyle/>
          <a:p>
            <a:pPr indent="0" marL="0">
              <a:buNone/>
            </a:pPr>
            <a:r>
              <a:rPr lang="en-US" sz="2200" b="1" dirty="0">
                <a:solidFill>
                  <a:srgbClr val="FFC845"/>
                </a:solidFill>
                <a:latin typeface="Calibri" pitchFamily="34" charset="0"/>
                <a:ea typeface="Calibri" pitchFamily="34" charset="-122"/>
                <a:cs typeface="Calibri" pitchFamily="34" charset="-120"/>
              </a:rPr>
              <a:t>SmartTutor: a training module for an HR platform</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3D"/>
        </a:solidFill>
      </p:bgPr>
    </p:bg>
    <p:spTree>
      <p:nvGrpSpPr>
        <p:cNvPr id="1" name=""/>
        <p:cNvGrpSpPr/>
        <p:nvPr/>
      </p:nvGrpSpPr>
      <p:grpSpPr>
        <a:xfrm>
          <a:off x="0" y="0"/>
          <a:ext cx="0" cy="0"/>
          <a:chOff x="0" y="0"/>
          <a:chExt cx="0" cy="0"/>
        </a:xfrm>
      </p:grpSpPr>
      <p:pic>
        <p:nvPicPr>
          <p:cNvPr id="2" name="Image 0" descr="C:\Users\Admin\AppData\Local\Temp\claude\d--SmartTutor\5ff2c210-ed39-47c1-9187-8611ef6ccd50\scratchpad\deck\emoji\wave.png">    </p:cNvPr>
          <p:cNvPicPr>
            <a:picLocks noChangeAspect="1"/>
          </p:cNvPicPr>
          <p:nvPr/>
        </p:nvPicPr>
        <p:blipFill>
          <a:blip r:embed="rId1"/>
          <a:stretch>
            <a:fillRect/>
          </a:stretch>
        </p:blipFill>
        <p:spPr>
          <a:xfrm>
            <a:off x="3977640" y="777240"/>
            <a:ext cx="1188720" cy="1188720"/>
          </a:xfrm>
          <a:prstGeom prst="rect">
            <a:avLst/>
          </a:prstGeom>
        </p:spPr>
      </p:pic>
      <p:sp>
        <p:nvSpPr>
          <p:cNvPr id="3" name="Text 0"/>
          <p:cNvSpPr txBox="1"/>
          <p:nvPr/>
        </p:nvSpPr>
        <p:spPr>
          <a:xfrm>
            <a:off x="457200" y="2103120"/>
            <a:ext cx="8229600" cy="91440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4" name="Text 1"/>
          <p:cNvSpPr txBox="1"/>
          <p:nvPr/>
        </p:nvSpPr>
        <p:spPr>
          <a:xfrm>
            <a:off x="457200" y="3017520"/>
            <a:ext cx="8229600" cy="411480"/>
          </a:xfrm>
          <a:prstGeom prst="rect">
            <a:avLst/>
          </a:prstGeom>
          <a:noFill/>
          <a:ln/>
        </p:spPr>
        <p:txBody>
          <a:bodyPr wrap="square" lIns="0" tIns="0" rIns="0" bIns="0" rtlCol="0" anchor="t"/>
          <a:lstStyle/>
          <a:p>
            <a:pPr algn="ctr" indent="0" marL="0">
              <a:buNone/>
            </a:pPr>
            <a:r>
              <a:rPr lang="en-US" sz="1800" dirty="0">
                <a:solidFill>
                  <a:srgbClr val="FFC845"/>
                </a:solidFill>
                <a:latin typeface="Calibri" pitchFamily="34" charset="0"/>
                <a:ea typeface="Calibri" pitchFamily="34" charset="-122"/>
                <a:cs typeface="Calibri" pitchFamily="34" charset="-120"/>
              </a:rPr>
              <a:t>SmartTutor: turn any document into a training course</a:t>
            </a:r>
            <a:endParaRPr lang="en-US" sz="1800" dirty="0"/>
          </a:p>
        </p:txBody>
      </p:sp>
      <p:sp>
        <p:nvSpPr>
          <p:cNvPr id="5" name="Text 2"/>
          <p:cNvSpPr txBox="1"/>
          <p:nvPr/>
        </p:nvSpPr>
        <p:spPr>
          <a:xfrm>
            <a:off x="457200" y="3749040"/>
            <a:ext cx="8229600" cy="731520"/>
          </a:xfrm>
          <a:prstGeom prst="rect">
            <a:avLst/>
          </a:prstGeom>
          <a:noFill/>
          <a:ln/>
        </p:spPr>
        <p:txBody>
          <a:bodyPr wrap="square" lIns="0" tIns="0" rIns="0" bIns="0" rtlCol="0" anchor="t"/>
          <a:lstStyle/>
          <a:p>
            <a:pPr algn="ctr" indent="0" marL="0">
              <a:buNone/>
            </a:pPr>
            <a:r>
              <a:rPr lang="en-US" sz="1300" dirty="0">
                <a:solidFill>
                  <a:srgbClr val="9AA6C8"/>
                </a:solidFill>
                <a:latin typeface="Calibri" pitchFamily="34" charset="0"/>
                <a:ea typeface="Calibri" pitchFamily="34" charset="-122"/>
                <a:cs typeface="Calibri" pitchFamily="34" charset="-120"/>
              </a:rPr>
              <a:t>Source code  </a:t>
            </a:r>
            <a:pPr algn="ctr" indent="0" marL="0">
              <a:buNone/>
            </a:pPr>
            <a:r>
              <a:rPr lang="en-US" sz="1300" dirty="0">
                <a:solidFill>
                  <a:srgbClr val="FFFFFF"/>
                </a:solidFill>
                <a:latin typeface="Calibri" pitchFamily="34" charset="0"/>
                <a:ea typeface="Calibri" pitchFamily="34" charset="-122"/>
                <a:cs typeface="Calibri" pitchFamily="34" charset="-120"/>
              </a:rPr>
              <a:t>github.com/phucdhcoder19/smarttutor</a:t>
            </a:r>
            <a:endParaRPr lang="en-US" sz="1300" dirty="0"/>
          </a:p>
          <a:p>
            <a:pPr algn="ctr" indent="0" marL="0">
              <a:buNone/>
            </a:pPr>
            <a:r>
              <a:rPr lang="en-US" sz="1300" dirty="0">
                <a:solidFill>
                  <a:srgbClr val="9AA6C8"/>
                </a:solidFill>
                <a:latin typeface="Calibri" pitchFamily="34" charset="0"/>
                <a:ea typeface="Calibri" pitchFamily="34" charset="-122"/>
                <a:cs typeface="Calibri" pitchFamily="34" charset="-120"/>
              </a:rPr>
              <a:t>APK and demo video  </a:t>
            </a:r>
            <a:pPr algn="ctr" indent="0" marL="0">
              <a:buNone/>
            </a:pPr>
            <a:r>
              <a:rPr lang="en-US" sz="1300" dirty="0">
                <a:solidFill>
                  <a:srgbClr val="FFFFFF"/>
                </a:solidFill>
                <a:latin typeface="Calibri" pitchFamily="34" charset="0"/>
                <a:ea typeface="Calibri" pitchFamily="34" charset="-122"/>
                <a:cs typeface="Calibri" pitchFamily="34" charset="-120"/>
              </a:rPr>
              <a:t>linked in the README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457200" y="320040"/>
            <a:ext cx="685800" cy="685800"/>
          </a:xfrm>
          <a:prstGeom prst="roundRect">
            <a:avLst>
              <a:gd name="adj" fmla="val 22000"/>
            </a:avLst>
          </a:prstGeom>
          <a:solidFill>
            <a:srgbClr val="FFFFFF"/>
          </a:solidFill>
          <a:ln w="12700">
            <a:solidFill>
              <a:srgbClr val="FFFFFF"/>
            </a:solidFill>
            <a:prstDash val="solid"/>
          </a:ln>
          <a:effectLst>
            <a:outerShdw sx="100000" sy="100000" kx="0" ky="0" algn="bl" rotWithShape="0" blurRad="127000" dist="38100" dir="5400000">
              <a:srgbClr val="0F1B3D">
                <a:alpha val="12000"/>
              </a:srgbClr>
            </a:outerShdw>
          </a:effectLst>
        </p:spPr>
      </p:sp>
      <p:pic>
        <p:nvPicPr>
          <p:cNvPr id="3" name="Image 0" descr="C:\Users\Admin\AppData\Local\Temp\claude\d--SmartTutor\5ff2c210-ed39-47c1-9187-8611ef6ccd50\scratchpad\deck\emoji\question.png">    </p:cNvPr>
          <p:cNvPicPr>
            <a:picLocks noChangeAspect="1"/>
          </p:cNvPicPr>
          <p:nvPr/>
        </p:nvPicPr>
        <p:blipFill>
          <a:blip r:embed="rId1"/>
          <a:stretch>
            <a:fillRect/>
          </a:stretch>
        </p:blipFill>
        <p:spPr>
          <a:xfrm>
            <a:off x="566928" y="429768"/>
            <a:ext cx="466344" cy="466344"/>
          </a:xfrm>
          <a:prstGeom prst="rect">
            <a:avLst/>
          </a:prstGeom>
        </p:spPr>
      </p:pic>
      <p:sp>
        <p:nvSpPr>
          <p:cNvPr id="4" name="Text 1"/>
          <p:cNvSpPr txBox="1"/>
          <p:nvPr/>
        </p:nvSpPr>
        <p:spPr>
          <a:xfrm>
            <a:off x="1325880" y="320040"/>
            <a:ext cx="6400800" cy="685800"/>
          </a:xfrm>
          <a:prstGeom prst="rect">
            <a:avLst/>
          </a:prstGeom>
          <a:noFill/>
          <a:ln/>
        </p:spPr>
        <p:txBody>
          <a:bodyPr wrap="square" lIns="0" tIns="0" rIns="0" bIns="0" rtlCol="0" anchor="ctr"/>
          <a:lstStyle/>
          <a:p>
            <a:pPr indent="0" marL="0">
              <a:buNone/>
            </a:pPr>
            <a:r>
              <a:rPr lang="en-US" sz="3200" b="1" dirty="0">
                <a:solidFill>
                  <a:srgbClr val="0F1B3D"/>
                </a:solidFill>
                <a:latin typeface="Calibri" pitchFamily="34" charset="0"/>
                <a:ea typeface="Calibri" pitchFamily="34" charset="-122"/>
                <a:cs typeface="Calibri" pitchFamily="34" charset="-120"/>
              </a:rPr>
              <a:t>Questions &amp; answers</a:t>
            </a:r>
            <a:endParaRPr lang="en-US" sz="3200" dirty="0"/>
          </a:p>
        </p:txBody>
      </p:sp>
      <p:sp>
        <p:nvSpPr>
          <p:cNvPr id="5" name="Shape 2"/>
          <p:cNvSpPr/>
          <p:nvPr/>
        </p:nvSpPr>
        <p:spPr>
          <a:xfrm>
            <a:off x="457200" y="1280160"/>
            <a:ext cx="260604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pic>
        <p:nvPicPr>
          <p:cNvPr id="6" name="Image 1" descr="C:\Users\Admin\AppData\Local\Temp\claude\d--SmartTutor\5ff2c210-ed39-47c1-9187-8611ef6ccd50\scratchpad\deck\emoji\balloon.png">    </p:cNvPr>
          <p:cNvPicPr>
            <a:picLocks noChangeAspect="1"/>
          </p:cNvPicPr>
          <p:nvPr/>
        </p:nvPicPr>
        <p:blipFill>
          <a:blip r:embed="rId2"/>
          <a:stretch>
            <a:fillRect/>
          </a:stretch>
        </p:blipFill>
        <p:spPr>
          <a:xfrm>
            <a:off x="658368" y="1481328"/>
            <a:ext cx="365760" cy="365760"/>
          </a:xfrm>
          <a:prstGeom prst="rect">
            <a:avLst/>
          </a:prstGeom>
        </p:spPr>
      </p:pic>
      <p:sp>
        <p:nvSpPr>
          <p:cNvPr id="7" name="Text 3"/>
          <p:cNvSpPr txBox="1"/>
          <p:nvPr/>
        </p:nvSpPr>
        <p:spPr>
          <a:xfrm>
            <a:off x="1115568" y="1463040"/>
            <a:ext cx="1783080" cy="502920"/>
          </a:xfrm>
          <a:prstGeom prst="rect">
            <a:avLst/>
          </a:prstGeom>
          <a:noFill/>
          <a:ln/>
        </p:spPr>
        <p:txBody>
          <a:bodyPr wrap="square" lIns="0" tIns="0" rIns="0" bIns="0" rtlCol="0" anchor="t"/>
          <a:lstStyle/>
          <a:p>
            <a:pPr indent="0" marL="0">
              <a:buNone/>
            </a:pPr>
            <a:r>
              <a:rPr lang="en-US" sz="1350" b="1" dirty="0">
                <a:solidFill>
                  <a:srgbClr val="0F1B3D"/>
                </a:solidFill>
                <a:latin typeface="Calibri" pitchFamily="34" charset="0"/>
                <a:ea typeface="Calibri" pitchFamily="34" charset="-122"/>
                <a:cs typeface="Calibri" pitchFamily="34" charset="-120"/>
              </a:rPr>
              <a:t>Why not AI-generated video?</a:t>
            </a:r>
            <a:endParaRPr lang="en-US" sz="1350" dirty="0"/>
          </a:p>
        </p:txBody>
      </p:sp>
      <p:sp>
        <p:nvSpPr>
          <p:cNvPr id="8" name="Text 4"/>
          <p:cNvSpPr txBox="1"/>
          <p:nvPr/>
        </p:nvSpPr>
        <p:spPr>
          <a:xfrm>
            <a:off x="658368" y="2057400"/>
            <a:ext cx="2240280" cy="731520"/>
          </a:xfrm>
          <a:prstGeom prst="rect">
            <a:avLst/>
          </a:prstGeom>
          <a:noFill/>
          <a:ln/>
        </p:spPr>
        <p:txBody>
          <a:bodyPr wrap="square" lIns="0" tIns="0" rIns="0" bIns="0" rtlCol="0" anchor="t"/>
          <a:lstStyle/>
          <a:p>
            <a:pPr indent="0" marL="0">
              <a:buNone/>
            </a:pPr>
            <a:r>
              <a:rPr lang="en-US" sz="1150" dirty="0">
                <a:solidFill>
                  <a:srgbClr val="5B6480"/>
                </a:solidFill>
                <a:latin typeface="Calibri" pitchFamily="34" charset="0"/>
                <a:ea typeface="Calibri" pitchFamily="34" charset="-122"/>
                <a:cs typeface="Calibri" pitchFamily="34" charset="-120"/>
              </a:rPr>
              <a:t>Veo is supported behind one setting, but costs hundreds of times more.</a:t>
            </a:r>
            <a:endParaRPr lang="en-US" sz="1150" dirty="0"/>
          </a:p>
        </p:txBody>
      </p:sp>
      <p:sp>
        <p:nvSpPr>
          <p:cNvPr id="9" name="Shape 5"/>
          <p:cNvSpPr/>
          <p:nvPr/>
        </p:nvSpPr>
        <p:spPr>
          <a:xfrm>
            <a:off x="3246120" y="1280160"/>
            <a:ext cx="260604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pic>
        <p:nvPicPr>
          <p:cNvPr id="10" name="Image 2" descr="C:\Users\Admin\AppData\Local\Temp\claude\d--SmartTutor\5ff2c210-ed39-47c1-9187-8611ef6ccd50\scratchpad\deck\emoji\balloon.png">    </p:cNvPr>
          <p:cNvPicPr>
            <a:picLocks noChangeAspect="1"/>
          </p:cNvPicPr>
          <p:nvPr/>
        </p:nvPicPr>
        <p:blipFill>
          <a:blip r:embed="rId3"/>
          <a:stretch>
            <a:fillRect/>
          </a:stretch>
        </p:blipFill>
        <p:spPr>
          <a:xfrm>
            <a:off x="3447288" y="1481328"/>
            <a:ext cx="365760" cy="365760"/>
          </a:xfrm>
          <a:prstGeom prst="rect">
            <a:avLst/>
          </a:prstGeom>
        </p:spPr>
      </p:pic>
      <p:sp>
        <p:nvSpPr>
          <p:cNvPr id="11" name="Text 6"/>
          <p:cNvSpPr txBox="1"/>
          <p:nvPr/>
        </p:nvSpPr>
        <p:spPr>
          <a:xfrm>
            <a:off x="3904488" y="1463040"/>
            <a:ext cx="1783080" cy="502920"/>
          </a:xfrm>
          <a:prstGeom prst="rect">
            <a:avLst/>
          </a:prstGeom>
          <a:noFill/>
          <a:ln/>
        </p:spPr>
        <p:txBody>
          <a:bodyPr wrap="square" lIns="0" tIns="0" rIns="0" bIns="0" rtlCol="0" anchor="t"/>
          <a:lstStyle/>
          <a:p>
            <a:pPr indent="0" marL="0">
              <a:buNone/>
            </a:pPr>
            <a:r>
              <a:rPr lang="en-US" sz="1350" b="1" dirty="0">
                <a:solidFill>
                  <a:srgbClr val="0F1B3D"/>
                </a:solidFill>
                <a:latin typeface="Calibri" pitchFamily="34" charset="0"/>
                <a:ea typeface="Calibri" pitchFamily="34" charset="-122"/>
                <a:cs typeface="Calibri" pitchFamily="34" charset="-120"/>
              </a:rPr>
              <a:t>Why does it take minutes?</a:t>
            </a:r>
            <a:endParaRPr lang="en-US" sz="1350" dirty="0"/>
          </a:p>
        </p:txBody>
      </p:sp>
      <p:sp>
        <p:nvSpPr>
          <p:cNvPr id="12" name="Text 7"/>
          <p:cNvSpPr txBox="1"/>
          <p:nvPr/>
        </p:nvSpPr>
        <p:spPr>
          <a:xfrm>
            <a:off x="3447288" y="2057400"/>
            <a:ext cx="2240280" cy="731520"/>
          </a:xfrm>
          <a:prstGeom prst="rect">
            <a:avLst/>
          </a:prstGeom>
          <a:noFill/>
          <a:ln/>
        </p:spPr>
        <p:txBody>
          <a:bodyPr wrap="square" lIns="0" tIns="0" rIns="0" bIns="0" rtlCol="0" anchor="t"/>
          <a:lstStyle/>
          <a:p>
            <a:pPr indent="0" marL="0">
              <a:buNone/>
            </a:pPr>
            <a:r>
              <a:rPr lang="en-US" sz="1150" dirty="0">
                <a:solidFill>
                  <a:srgbClr val="5B6480"/>
                </a:solidFill>
                <a:latin typeface="Calibri" pitchFamily="34" charset="0"/>
                <a:ea typeface="Calibri" pitchFamily="34" charset="-122"/>
                <a:cs typeface="Calibri" pitchFamily="34" charset="-120"/>
              </a:rPr>
              <a:t>Frame-by-frame rendering; cloud rendering in parallel takes seconds.</a:t>
            </a:r>
            <a:endParaRPr lang="en-US" sz="1150" dirty="0"/>
          </a:p>
        </p:txBody>
      </p:sp>
      <p:sp>
        <p:nvSpPr>
          <p:cNvPr id="13" name="Shape 8"/>
          <p:cNvSpPr/>
          <p:nvPr/>
        </p:nvSpPr>
        <p:spPr>
          <a:xfrm>
            <a:off x="6035040" y="1280160"/>
            <a:ext cx="260604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pic>
        <p:nvPicPr>
          <p:cNvPr id="14" name="Image 3" descr="C:\Users\Admin\AppData\Local\Temp\claude\d--SmartTutor\5ff2c210-ed39-47c1-9187-8611ef6ccd50\scratchpad\deck\emoji\balloon.png">    </p:cNvPr>
          <p:cNvPicPr>
            <a:picLocks noChangeAspect="1"/>
          </p:cNvPicPr>
          <p:nvPr/>
        </p:nvPicPr>
        <p:blipFill>
          <a:blip r:embed="rId4"/>
          <a:stretch>
            <a:fillRect/>
          </a:stretch>
        </p:blipFill>
        <p:spPr>
          <a:xfrm>
            <a:off x="6236208" y="1481328"/>
            <a:ext cx="365760" cy="365760"/>
          </a:xfrm>
          <a:prstGeom prst="rect">
            <a:avLst/>
          </a:prstGeom>
        </p:spPr>
      </p:pic>
      <p:sp>
        <p:nvSpPr>
          <p:cNvPr id="15" name="Text 9"/>
          <p:cNvSpPr txBox="1"/>
          <p:nvPr/>
        </p:nvSpPr>
        <p:spPr>
          <a:xfrm>
            <a:off x="6693408" y="1463040"/>
            <a:ext cx="1783080" cy="502920"/>
          </a:xfrm>
          <a:prstGeom prst="rect">
            <a:avLst/>
          </a:prstGeom>
          <a:noFill/>
          <a:ln/>
        </p:spPr>
        <p:txBody>
          <a:bodyPr wrap="square" lIns="0" tIns="0" rIns="0" bIns="0" rtlCol="0" anchor="t"/>
          <a:lstStyle/>
          <a:p>
            <a:pPr indent="0" marL="0">
              <a:buNone/>
            </a:pPr>
            <a:r>
              <a:rPr lang="en-US" sz="1350" b="1" dirty="0">
                <a:solidFill>
                  <a:srgbClr val="0F1B3D"/>
                </a:solidFill>
                <a:latin typeface="Calibri" pitchFamily="34" charset="0"/>
                <a:ea typeface="Calibri" pitchFamily="34" charset="-122"/>
                <a:cs typeface="Calibri" pitchFamily="34" charset="-120"/>
              </a:rPr>
              <a:t>Can the AI make things up?</a:t>
            </a:r>
            <a:endParaRPr lang="en-US" sz="1350" dirty="0"/>
          </a:p>
        </p:txBody>
      </p:sp>
      <p:sp>
        <p:nvSpPr>
          <p:cNvPr id="16" name="Text 10"/>
          <p:cNvSpPr txBox="1"/>
          <p:nvPr/>
        </p:nvSpPr>
        <p:spPr>
          <a:xfrm>
            <a:off x="6236208" y="2057400"/>
            <a:ext cx="2240280" cy="731520"/>
          </a:xfrm>
          <a:prstGeom prst="rect">
            <a:avLst/>
          </a:prstGeom>
          <a:noFill/>
          <a:ln/>
        </p:spPr>
        <p:txBody>
          <a:bodyPr wrap="square" lIns="0" tIns="0" rIns="0" bIns="0" rtlCol="0" anchor="t"/>
          <a:lstStyle/>
          <a:p>
            <a:pPr indent="0" marL="0">
              <a:buNone/>
            </a:pPr>
            <a:r>
              <a:rPr lang="en-US" sz="1150" dirty="0">
                <a:solidFill>
                  <a:srgbClr val="5B6480"/>
                </a:solidFill>
                <a:latin typeface="Calibri" pitchFamily="34" charset="0"/>
                <a:ea typeface="Calibri" pitchFamily="34" charset="-122"/>
                <a:cs typeface="Calibri" pitchFamily="34" charset="-120"/>
              </a:rPr>
              <a:t>It reads the source directly; numbers come only from the document.</a:t>
            </a:r>
            <a:endParaRPr lang="en-US" sz="1150" dirty="0"/>
          </a:p>
        </p:txBody>
      </p:sp>
      <p:sp>
        <p:nvSpPr>
          <p:cNvPr id="17" name="Shape 11"/>
          <p:cNvSpPr/>
          <p:nvPr/>
        </p:nvSpPr>
        <p:spPr>
          <a:xfrm>
            <a:off x="457200" y="3063240"/>
            <a:ext cx="260604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pic>
        <p:nvPicPr>
          <p:cNvPr id="18" name="Image 4" descr="C:\Users\Admin\AppData\Local\Temp\claude\d--SmartTutor\5ff2c210-ed39-47c1-9187-8611ef6ccd50\scratchpad\deck\emoji\balloon.png">    </p:cNvPr>
          <p:cNvPicPr>
            <a:picLocks noChangeAspect="1"/>
          </p:cNvPicPr>
          <p:nvPr/>
        </p:nvPicPr>
        <p:blipFill>
          <a:blip r:embed="rId5"/>
          <a:stretch>
            <a:fillRect/>
          </a:stretch>
        </p:blipFill>
        <p:spPr>
          <a:xfrm>
            <a:off x="658368" y="3264408"/>
            <a:ext cx="365760" cy="365760"/>
          </a:xfrm>
          <a:prstGeom prst="rect">
            <a:avLst/>
          </a:prstGeom>
        </p:spPr>
      </p:pic>
      <p:sp>
        <p:nvSpPr>
          <p:cNvPr id="19" name="Text 12"/>
          <p:cNvSpPr txBox="1"/>
          <p:nvPr/>
        </p:nvSpPr>
        <p:spPr>
          <a:xfrm>
            <a:off x="1115568" y="3246120"/>
            <a:ext cx="1783080" cy="502920"/>
          </a:xfrm>
          <a:prstGeom prst="rect">
            <a:avLst/>
          </a:prstGeom>
          <a:noFill/>
          <a:ln/>
        </p:spPr>
        <p:txBody>
          <a:bodyPr wrap="square" lIns="0" tIns="0" rIns="0" bIns="0" rtlCol="0" anchor="t"/>
          <a:lstStyle/>
          <a:p>
            <a:pPr indent="0" marL="0">
              <a:buNone/>
            </a:pPr>
            <a:r>
              <a:rPr lang="en-US" sz="1350" b="1" dirty="0">
                <a:solidFill>
                  <a:srgbClr val="0F1B3D"/>
                </a:solidFill>
                <a:latin typeface="Calibri" pitchFamily="34" charset="0"/>
                <a:ea typeface="Calibri" pitchFamily="34" charset="-122"/>
                <a:cs typeface="Calibri" pitchFamily="34" charset="-120"/>
              </a:rPr>
              <a:t>Is it secure?</a:t>
            </a:r>
            <a:endParaRPr lang="en-US" sz="1350" dirty="0"/>
          </a:p>
        </p:txBody>
      </p:sp>
      <p:sp>
        <p:nvSpPr>
          <p:cNvPr id="20" name="Text 13"/>
          <p:cNvSpPr txBox="1"/>
          <p:nvPr/>
        </p:nvSpPr>
        <p:spPr>
          <a:xfrm>
            <a:off x="658368" y="3840480"/>
            <a:ext cx="2240280" cy="731520"/>
          </a:xfrm>
          <a:prstGeom prst="rect">
            <a:avLst/>
          </a:prstGeom>
          <a:noFill/>
          <a:ln/>
        </p:spPr>
        <p:txBody>
          <a:bodyPr wrap="square" lIns="0" tIns="0" rIns="0" bIns="0" rtlCol="0" anchor="t"/>
          <a:lstStyle/>
          <a:p>
            <a:pPr indent="0" marL="0">
              <a:buNone/>
            </a:pPr>
            <a:r>
              <a:rPr lang="en-US" sz="1150" dirty="0">
                <a:solidFill>
                  <a:srgbClr val="5B6480"/>
                </a:solidFill>
                <a:latin typeface="Calibri" pitchFamily="34" charset="0"/>
                <a:ea typeface="Calibri" pitchFamily="34" charset="-122"/>
                <a:cs typeface="Calibri" pitchFamily="34" charset="-120"/>
              </a:rPr>
              <a:t>No keys in the app; documents go only to our server and Gemini.</a:t>
            </a:r>
            <a:endParaRPr lang="en-US" sz="1150" dirty="0"/>
          </a:p>
        </p:txBody>
      </p:sp>
      <p:sp>
        <p:nvSpPr>
          <p:cNvPr id="21" name="Shape 14"/>
          <p:cNvSpPr/>
          <p:nvPr/>
        </p:nvSpPr>
        <p:spPr>
          <a:xfrm>
            <a:off x="3246120" y="3063240"/>
            <a:ext cx="260604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pic>
        <p:nvPicPr>
          <p:cNvPr id="22" name="Image 5" descr="C:\Users\Admin\AppData\Local\Temp\claude\d--SmartTutor\5ff2c210-ed39-47c1-9187-8611ef6ccd50\scratchpad\deck\emoji\balloon.png">    </p:cNvPr>
          <p:cNvPicPr>
            <a:picLocks noChangeAspect="1"/>
          </p:cNvPicPr>
          <p:nvPr/>
        </p:nvPicPr>
        <p:blipFill>
          <a:blip r:embed="rId6"/>
          <a:stretch>
            <a:fillRect/>
          </a:stretch>
        </p:blipFill>
        <p:spPr>
          <a:xfrm>
            <a:off x="3447288" y="3264408"/>
            <a:ext cx="365760" cy="365760"/>
          </a:xfrm>
          <a:prstGeom prst="rect">
            <a:avLst/>
          </a:prstGeom>
        </p:spPr>
      </p:pic>
      <p:sp>
        <p:nvSpPr>
          <p:cNvPr id="23" name="Text 15"/>
          <p:cNvSpPr txBox="1"/>
          <p:nvPr/>
        </p:nvSpPr>
        <p:spPr>
          <a:xfrm>
            <a:off x="3904488" y="3246120"/>
            <a:ext cx="1783080" cy="502920"/>
          </a:xfrm>
          <a:prstGeom prst="rect">
            <a:avLst/>
          </a:prstGeom>
          <a:noFill/>
          <a:ln/>
        </p:spPr>
        <p:txBody>
          <a:bodyPr wrap="square" lIns="0" tIns="0" rIns="0" bIns="0" rtlCol="0" anchor="t"/>
          <a:lstStyle/>
          <a:p>
            <a:pPr indent="0" marL="0">
              <a:buNone/>
            </a:pPr>
            <a:r>
              <a:rPr lang="en-US" sz="1350" b="1" dirty="0">
                <a:solidFill>
                  <a:srgbClr val="0F1B3D"/>
                </a:solidFill>
                <a:latin typeface="Calibri" pitchFamily="34" charset="0"/>
                <a:ea typeface="Calibri" pitchFamily="34" charset="-122"/>
                <a:cs typeface="Calibri" pitchFamily="34" charset="-120"/>
              </a:rPr>
              <a:t>Does it support Vietnamese?</a:t>
            </a:r>
            <a:endParaRPr lang="en-US" sz="1350" dirty="0"/>
          </a:p>
        </p:txBody>
      </p:sp>
      <p:sp>
        <p:nvSpPr>
          <p:cNvPr id="24" name="Text 16"/>
          <p:cNvSpPr txBox="1"/>
          <p:nvPr/>
        </p:nvSpPr>
        <p:spPr>
          <a:xfrm>
            <a:off x="3447288" y="3840480"/>
            <a:ext cx="2240280" cy="731520"/>
          </a:xfrm>
          <a:prstGeom prst="rect">
            <a:avLst/>
          </a:prstGeom>
          <a:noFill/>
          <a:ln/>
        </p:spPr>
        <p:txBody>
          <a:bodyPr wrap="square" lIns="0" tIns="0" rIns="0" bIns="0" rtlCol="0" anchor="t"/>
          <a:lstStyle/>
          <a:p>
            <a:pPr indent="0" marL="0">
              <a:buNone/>
            </a:pPr>
            <a:r>
              <a:rPr lang="en-US" sz="1150" dirty="0">
                <a:solidFill>
                  <a:srgbClr val="5B6480"/>
                </a:solidFill>
                <a:latin typeface="Calibri" pitchFamily="34" charset="0"/>
                <a:ea typeface="Calibri" pitchFamily="34" charset="-122"/>
                <a:cs typeface="Calibri" pitchFamily="34" charset="-120"/>
              </a:rPr>
              <a:t>Yes. It writes and narrates in the language of the document.</a:t>
            </a:r>
            <a:endParaRPr lang="en-US" sz="1150" dirty="0"/>
          </a:p>
        </p:txBody>
      </p:sp>
      <p:sp>
        <p:nvSpPr>
          <p:cNvPr id="25" name="Shape 17"/>
          <p:cNvSpPr/>
          <p:nvPr/>
        </p:nvSpPr>
        <p:spPr>
          <a:xfrm>
            <a:off x="6035040" y="3063240"/>
            <a:ext cx="2606040" cy="1600200"/>
          </a:xfrm>
          <a:prstGeom prst="roundRect">
            <a:avLst>
              <a:gd name="adj" fmla="val 6857"/>
            </a:avLst>
          </a:prstGeom>
          <a:solidFill>
            <a:srgbClr val="FFFFFF"/>
          </a:solidFill>
          <a:ln w="9525">
            <a:solidFill>
              <a:srgbClr val="DCE3F2"/>
            </a:solidFill>
            <a:prstDash val="solid"/>
          </a:ln>
          <a:effectLst>
            <a:outerShdw sx="100000" sy="100000" kx="0" ky="0" algn="bl" rotWithShape="0" blurRad="127000" dist="38100" dir="5400000">
              <a:srgbClr val="0F1B3D">
                <a:alpha val="12000"/>
              </a:srgbClr>
            </a:outerShdw>
          </a:effectLst>
        </p:spPr>
      </p:sp>
      <p:pic>
        <p:nvPicPr>
          <p:cNvPr id="26" name="Image 6" descr="C:\Users\Admin\AppData\Local\Temp\claude\d--SmartTutor\5ff2c210-ed39-47c1-9187-8611ef6ccd50\scratchpad\deck\emoji\balloon.png">    </p:cNvPr>
          <p:cNvPicPr>
            <a:picLocks noChangeAspect="1"/>
          </p:cNvPicPr>
          <p:nvPr/>
        </p:nvPicPr>
        <p:blipFill>
          <a:blip r:embed="rId7"/>
          <a:stretch>
            <a:fillRect/>
          </a:stretch>
        </p:blipFill>
        <p:spPr>
          <a:xfrm>
            <a:off x="6236208" y="3264408"/>
            <a:ext cx="365760" cy="365760"/>
          </a:xfrm>
          <a:prstGeom prst="rect">
            <a:avLst/>
          </a:prstGeom>
        </p:spPr>
      </p:pic>
      <p:sp>
        <p:nvSpPr>
          <p:cNvPr id="27" name="Text 18"/>
          <p:cNvSpPr txBox="1"/>
          <p:nvPr/>
        </p:nvSpPr>
        <p:spPr>
          <a:xfrm>
            <a:off x="6693408" y="3246120"/>
            <a:ext cx="1783080" cy="502920"/>
          </a:xfrm>
          <a:prstGeom prst="rect">
            <a:avLst/>
          </a:prstGeom>
          <a:noFill/>
          <a:ln/>
        </p:spPr>
        <p:txBody>
          <a:bodyPr wrap="square" lIns="0" tIns="0" rIns="0" bIns="0" rtlCol="0" anchor="t"/>
          <a:lstStyle/>
          <a:p>
            <a:pPr indent="0" marL="0">
              <a:buNone/>
            </a:pPr>
            <a:r>
              <a:rPr lang="en-US" sz="1350" b="1" dirty="0">
                <a:solidFill>
                  <a:srgbClr val="0F1B3D"/>
                </a:solidFill>
                <a:latin typeface="Calibri" pitchFamily="34" charset="0"/>
                <a:ea typeface="Calibri" pitchFamily="34" charset="-122"/>
                <a:cs typeface="Calibri" pitchFamily="34" charset="-120"/>
              </a:rPr>
              <a:t>What about many users?</a:t>
            </a:r>
            <a:endParaRPr lang="en-US" sz="1350" dirty="0"/>
          </a:p>
        </p:txBody>
      </p:sp>
      <p:sp>
        <p:nvSpPr>
          <p:cNvPr id="28" name="Text 19"/>
          <p:cNvSpPr txBox="1"/>
          <p:nvPr/>
        </p:nvSpPr>
        <p:spPr>
          <a:xfrm>
            <a:off x="6236208" y="3840480"/>
            <a:ext cx="2240280" cy="731520"/>
          </a:xfrm>
          <a:prstGeom prst="rect">
            <a:avLst/>
          </a:prstGeom>
          <a:noFill/>
          <a:ln/>
        </p:spPr>
        <p:txBody>
          <a:bodyPr wrap="square" lIns="0" tIns="0" rIns="0" bIns="0" rtlCol="0" anchor="t"/>
          <a:lstStyle/>
          <a:p>
            <a:pPr indent="0" marL="0">
              <a:buNone/>
            </a:pPr>
            <a:r>
              <a:rPr lang="en-US" sz="1150" dirty="0">
                <a:solidFill>
                  <a:srgbClr val="5B6480"/>
                </a:solidFill>
                <a:latin typeface="Calibri" pitchFamily="34" charset="0"/>
                <a:ea typeface="Calibri" pitchFamily="34" charset="-122"/>
                <a:cs typeface="Calibri" pitchFamily="34" charset="-120"/>
              </a:rPr>
              <a:t>Next step: a job queue with separate render workers.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SmartTutor</dc:title>
  <dc:subject>PptxGenJS Presentation</dc:subject>
  <dc:creator>PptxGenJS</dc:creator>
  <cp:lastModifiedBy>PptxGenJS</cp:lastModifiedBy>
  <cp:revision>1</cp:revision>
  <dcterms:created xsi:type="dcterms:W3CDTF">2026-09-30T18:10:53Z</dcterms:created>
  <dcterms:modified xsi:type="dcterms:W3CDTF">2026-09-30T18:10:53Z</dcterms:modified>
</cp:coreProperties>
</file>